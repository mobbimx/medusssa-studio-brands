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7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10.png"/><Relationship Id="rId11" Type="http://schemas.openxmlformats.org/officeDocument/2006/relationships/image" Target="../media/image-2-2.png"/><Relationship Id="rId12" Type="http://schemas.openxmlformats.org/officeDocument/2006/relationships/image" Target="../media/image-2-3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5.png"/><Relationship Id="rId7" Type="http://schemas.openxmlformats.org/officeDocument/2006/relationships/image" Target="../media/image-3-5.png"/><Relationship Id="rId8" Type="http://schemas.openxmlformats.org/officeDocument/2006/relationships/image" Target="../media/image-3-5.png"/><Relationship Id="rId9" Type="http://schemas.openxmlformats.org/officeDocument/2006/relationships/image" Target="../media/image-3-2.png"/><Relationship Id="rId10" Type="http://schemas.openxmlformats.org/officeDocument/2006/relationships/image" Target="../media/image-3-3.png"/><Relationship Id="rId11" Type="http://schemas.openxmlformats.org/officeDocument/2006/relationships/image" Target="../media/image-3-11.png"/><Relationship Id="rId12" Type="http://schemas.openxmlformats.org/officeDocument/2006/relationships/image" Target="../media/image-3-5.png"/><Relationship Id="rId13" Type="http://schemas.openxmlformats.org/officeDocument/2006/relationships/image" Target="../media/image-3-5.png"/><Relationship Id="rId14" Type="http://schemas.openxmlformats.org/officeDocument/2006/relationships/image" Target="../media/image-3-5.png"/><Relationship Id="rId15" Type="http://schemas.openxmlformats.org/officeDocument/2006/relationships/image" Target="../media/image-3-5.png"/><Relationship Id="rId16" Type="http://schemas.openxmlformats.org/officeDocument/2006/relationships/image" Target="../media/image-3-2.png"/><Relationship Id="rId17" Type="http://schemas.openxmlformats.org/officeDocument/2006/relationships/image" Target="../media/image-3-3.png"/><Relationship Id="rId18" Type="http://schemas.openxmlformats.org/officeDocument/2006/relationships/image" Target="../media/image-3-18.png"/><Relationship Id="rId19" Type="http://schemas.openxmlformats.org/officeDocument/2006/relationships/image" Target="../media/image-3-5.png"/><Relationship Id="rId20" Type="http://schemas.openxmlformats.org/officeDocument/2006/relationships/image" Target="../media/image-3-5.png"/><Relationship Id="rId21" Type="http://schemas.openxmlformats.org/officeDocument/2006/relationships/image" Target="../media/image-3-5.png"/><Relationship Id="rId22" Type="http://schemas.openxmlformats.org/officeDocument/2006/relationships/image" Target="../media/image-3-5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3.png"/><Relationship Id="rId7" Type="http://schemas.openxmlformats.org/officeDocument/2006/relationships/image" Target="../media/image-5-4.png"/><Relationship Id="rId8" Type="http://schemas.openxmlformats.org/officeDocument/2006/relationships/image" Target="../media/image-5-8.png"/><Relationship Id="rId9" Type="http://schemas.openxmlformats.org/officeDocument/2006/relationships/image" Target="../media/image-5-3.png"/><Relationship Id="rId10" Type="http://schemas.openxmlformats.org/officeDocument/2006/relationships/image" Target="../media/image-5-4.png"/><Relationship Id="rId11" Type="http://schemas.openxmlformats.org/officeDocument/2006/relationships/image" Target="../media/image-5-11.png"/><Relationship Id="rId12" Type="http://schemas.openxmlformats.org/officeDocument/2006/relationships/image" Target="../media/image-5-3.png"/><Relationship Id="rId13" Type="http://schemas.openxmlformats.org/officeDocument/2006/relationships/image" Target="../media/image-5-4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x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6421" y="463423"/>
            <a:ext cx="2895600" cy="4143375"/>
          </a:xfrm>
          <a:prstGeom prst="rect">
            <a:avLst/>
          </a:prstGeom>
        </p:spPr>
      </p:pic>
      <p:pic>
        <p:nvPicPr>
          <p:cNvPr id="3" name="Image 1" descr="img/x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09" y="800862"/>
            <a:ext cx="304800" cy="304800"/>
          </a:xfrm>
          <a:prstGeom prst="rect">
            <a:avLst/>
          </a:prstGeom>
        </p:spPr>
      </p:pic>
      <p:pic>
        <p:nvPicPr>
          <p:cNvPr id="4" name="Image 2" descr="img/x2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63" y="347853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67080" y="487934"/>
            <a:ext cx="2540000" cy="2165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</a:t>
            </a:r>
            <a:endParaRPr lang="en-US" sz="1100" dirty="0"/>
          </a:p>
        </p:txBody>
      </p:sp>
      <p:sp>
        <p:nvSpPr>
          <p:cNvPr id="6" name="Text 1"/>
          <p:cNvSpPr/>
          <p:nvPr/>
        </p:nvSpPr>
        <p:spPr>
          <a:xfrm>
            <a:off x="767080" y="849884"/>
            <a:ext cx="2540000" cy="2165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- A C E</a:t>
            </a:r>
            <a:endParaRPr lang="en-US" sz="1100" dirty="0"/>
          </a:p>
        </p:txBody>
      </p:sp>
      <p:sp>
        <p:nvSpPr>
          <p:cNvPr id="7" name="Text 2"/>
          <p:cNvSpPr/>
          <p:nvPr/>
        </p:nvSpPr>
        <p:spPr>
          <a:xfrm>
            <a:off x="529590" y="1630578"/>
            <a:ext cx="4445000" cy="208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R O P U E S T A   D E   S E R V I C I O S   D I G I T A L E S</a:t>
            </a:r>
            <a:endParaRPr lang="en-US" sz="1060" dirty="0"/>
          </a:p>
        </p:txBody>
      </p:sp>
      <p:sp>
        <p:nvSpPr>
          <p:cNvPr id="8" name="Text 3"/>
          <p:cNvSpPr/>
          <p:nvPr/>
        </p:nvSpPr>
        <p:spPr>
          <a:xfrm>
            <a:off x="529590" y="1959864"/>
            <a:ext cx="5334000" cy="31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R O P U E S T A   M E D U S S S A   x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483870" y="2324100"/>
            <a:ext cx="6096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EXTRAVAGANCE</a:t>
            </a:r>
            <a:endParaRPr lang="en-US" sz="5000" dirty="0"/>
          </a:p>
        </p:txBody>
      </p:sp>
      <p:sp>
        <p:nvSpPr>
          <p:cNvPr id="10" name="Text 5"/>
          <p:cNvSpPr/>
          <p:nvPr/>
        </p:nvSpPr>
        <p:spPr>
          <a:xfrm>
            <a:off x="529590" y="3359455"/>
            <a:ext cx="6604000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publicitaria, Automatización de mensajeria y Desarrollo web</a:t>
            </a:r>
            <a:endParaRPr lang="en-US" sz="1320" dirty="0"/>
          </a:p>
        </p:txBody>
      </p:sp>
      <p:sp>
        <p:nvSpPr>
          <p:cNvPr id="11" name="Text 6"/>
          <p:cNvSpPr/>
          <p:nvPr/>
        </p:nvSpPr>
        <p:spPr>
          <a:xfrm>
            <a:off x="529590" y="3712464"/>
            <a:ext cx="6350000" cy="433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10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Reposicionamiento de la comunicación, embudo completo de anuncios y sistema de</a:t>
            </a:r>
            <a:endParaRPr lang="en-US" sz="1100" dirty="0"/>
          </a:p>
          <a:p>
            <a:pPr algn="l" indent="0" marL="0">
              <a:lnSpc>
                <a:spcPts val="1280"/>
              </a:lnSpc>
              <a:buNone/>
            </a:pPr>
            <a:r>
              <a:rPr lang="en-US" sz="110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reservas: Automatizacionde WhatsApp, página web y Google Business.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529590" y="4594860"/>
            <a:ext cx="330200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del Río, Veracruz   ·   Julio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x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044" y="387604"/>
            <a:ext cx="190500" cy="190500"/>
          </a:xfrm>
          <a:prstGeom prst="rect">
            <a:avLst/>
          </a:prstGeom>
        </p:spPr>
      </p:pic>
      <p:pic>
        <p:nvPicPr>
          <p:cNvPr id="3" name="Image 1" descr="img/x3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16" y="1319784"/>
            <a:ext cx="4199128" cy="1818894"/>
          </a:xfrm>
          <a:prstGeom prst="rect">
            <a:avLst/>
          </a:prstGeom>
        </p:spPr>
      </p:pic>
      <p:pic>
        <p:nvPicPr>
          <p:cNvPr id="4" name="Image 2" descr="img/x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848" y="1321816"/>
            <a:ext cx="4124325" cy="1743075"/>
          </a:xfrm>
          <a:prstGeom prst="rect">
            <a:avLst/>
          </a:prstGeom>
        </p:spPr>
      </p:pic>
      <p:pic>
        <p:nvPicPr>
          <p:cNvPr id="5" name="Image 3" descr="img/x32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1728216"/>
            <a:ext cx="201168" cy="201168"/>
          </a:xfrm>
          <a:prstGeom prst="rect">
            <a:avLst/>
          </a:prstGeom>
        </p:spPr>
      </p:pic>
      <p:pic>
        <p:nvPicPr>
          <p:cNvPr id="6" name="Image 4" descr="img/x3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2" y="1319784"/>
            <a:ext cx="4199128" cy="1818894"/>
          </a:xfrm>
          <a:prstGeom prst="rect">
            <a:avLst/>
          </a:prstGeom>
        </p:spPr>
      </p:pic>
      <p:pic>
        <p:nvPicPr>
          <p:cNvPr id="7" name="Image 5" descr="img/x4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224" y="1321816"/>
            <a:ext cx="4124325" cy="1743075"/>
          </a:xfrm>
          <a:prstGeom prst="rect">
            <a:avLst/>
          </a:prstGeom>
        </p:spPr>
      </p:pic>
      <p:pic>
        <p:nvPicPr>
          <p:cNvPr id="8" name="Image 6" descr="img/x33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728216"/>
            <a:ext cx="201168" cy="201168"/>
          </a:xfrm>
          <a:prstGeom prst="rect">
            <a:avLst/>
          </a:prstGeom>
        </p:spPr>
      </p:pic>
      <p:pic>
        <p:nvPicPr>
          <p:cNvPr id="9" name="Image 7" descr="img/x32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4716" y="3057144"/>
            <a:ext cx="4199128" cy="1818894"/>
          </a:xfrm>
          <a:prstGeom prst="rect">
            <a:avLst/>
          </a:prstGeom>
        </p:spPr>
      </p:pic>
      <p:pic>
        <p:nvPicPr>
          <p:cNvPr id="10" name="Image 8" descr="img/x4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848" y="3059176"/>
            <a:ext cx="4124325" cy="1743075"/>
          </a:xfrm>
          <a:prstGeom prst="rect">
            <a:avLst/>
          </a:prstGeom>
        </p:spPr>
      </p:pic>
      <p:pic>
        <p:nvPicPr>
          <p:cNvPr id="11" name="Image 9" descr="img/x33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824" y="3465576"/>
            <a:ext cx="201168" cy="201168"/>
          </a:xfrm>
          <a:prstGeom prst="rect">
            <a:avLst/>
          </a:prstGeom>
        </p:spPr>
      </p:pic>
      <p:pic>
        <p:nvPicPr>
          <p:cNvPr id="12" name="Image 10" descr="img/x32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46092" y="3057144"/>
            <a:ext cx="4199128" cy="1818894"/>
          </a:xfrm>
          <a:prstGeom prst="rect">
            <a:avLst/>
          </a:prstGeom>
        </p:spPr>
      </p:pic>
      <p:pic>
        <p:nvPicPr>
          <p:cNvPr id="13" name="Image 11" descr="img/x4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6224" y="3059176"/>
            <a:ext cx="4124325" cy="1743075"/>
          </a:xfrm>
          <a:prstGeom prst="rect">
            <a:avLst/>
          </a:prstGeom>
        </p:spPr>
      </p:pic>
      <p:pic>
        <p:nvPicPr>
          <p:cNvPr id="14" name="Image 12" descr="img/x345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29200" y="3465576"/>
            <a:ext cx="201168" cy="201168"/>
          </a:xfrm>
          <a:prstGeom prst="rect">
            <a:avLst/>
          </a:prstGeom>
        </p:spPr>
      </p:pic>
      <p:pic>
        <p:nvPicPr>
          <p:cNvPr id="15" name="Image 13" descr="img/x44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3649" y="390271"/>
            <a:ext cx="485775" cy="485775"/>
          </a:xfrm>
          <a:prstGeom prst="rect">
            <a:avLst/>
          </a:prstGeom>
        </p:spPr>
      </p:pic>
      <p:pic>
        <p:nvPicPr>
          <p:cNvPr id="16" name="Image 14" descr="img/x4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00569" y="239522"/>
            <a:ext cx="790575" cy="790575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730250" y="378333"/>
            <a:ext cx="2540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9C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 I A G N Ó S T I C O</a:t>
            </a:r>
            <a:endParaRPr lang="en-US" sz="950" dirty="0"/>
          </a:p>
        </p:txBody>
      </p:sp>
      <p:sp>
        <p:nvSpPr>
          <p:cNvPr id="18" name="Text 1"/>
          <p:cNvSpPr/>
          <p:nvPr/>
        </p:nvSpPr>
        <p:spPr>
          <a:xfrm>
            <a:off x="483870" y="603250"/>
            <a:ext cx="4445000" cy="492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Antes de empezar</a:t>
            </a:r>
            <a:endParaRPr lang="en-US" sz="2500" dirty="0"/>
          </a:p>
        </p:txBody>
      </p:sp>
      <p:sp>
        <p:nvSpPr>
          <p:cNvPr id="19" name="Text 2"/>
          <p:cNvSpPr/>
          <p:nvPr/>
        </p:nvSpPr>
        <p:spPr>
          <a:xfrm>
            <a:off x="495300" y="972490"/>
            <a:ext cx="3175000" cy="210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70" i="1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Problemáticasactuales.</a:t>
            </a:r>
            <a:endParaRPr lang="en-US" sz="1070" dirty="0"/>
          </a:p>
        </p:txBody>
      </p:sp>
      <p:sp>
        <p:nvSpPr>
          <p:cNvPr id="20" name="Text 3"/>
          <p:cNvSpPr/>
          <p:nvPr/>
        </p:nvSpPr>
        <p:spPr>
          <a:xfrm>
            <a:off x="1325880" y="1692275"/>
            <a:ext cx="3175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Contenido no aptopara publicidad</a:t>
            </a:r>
            <a:endParaRPr lang="en-US" sz="1250" dirty="0"/>
          </a:p>
        </p:txBody>
      </p:sp>
      <p:sp>
        <p:nvSpPr>
          <p:cNvPr id="21" name="Text 4"/>
          <p:cNvSpPr/>
          <p:nvPr/>
        </p:nvSpPr>
        <p:spPr>
          <a:xfrm>
            <a:off x="5477510" y="1692275"/>
            <a:ext cx="3175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Alcance</a:t>
            </a:r>
            <a:endParaRPr lang="en-US" sz="1250" dirty="0"/>
          </a:p>
        </p:txBody>
      </p:sp>
      <p:sp>
        <p:nvSpPr>
          <p:cNvPr id="22" name="Text 5"/>
          <p:cNvSpPr/>
          <p:nvPr/>
        </p:nvSpPr>
        <p:spPr>
          <a:xfrm>
            <a:off x="1325880" y="3429635"/>
            <a:ext cx="3175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lugar no se ve</a:t>
            </a:r>
            <a:endParaRPr lang="en-US" sz="1250" dirty="0"/>
          </a:p>
        </p:txBody>
      </p:sp>
      <p:sp>
        <p:nvSpPr>
          <p:cNvPr id="23" name="Text 6"/>
          <p:cNvSpPr/>
          <p:nvPr/>
        </p:nvSpPr>
        <p:spPr>
          <a:xfrm>
            <a:off x="5477510" y="3429635"/>
            <a:ext cx="3175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 canal de cierre</a:t>
            </a:r>
            <a:endParaRPr lang="en-US" sz="1250" dirty="0"/>
          </a:p>
        </p:txBody>
      </p:sp>
      <p:sp>
        <p:nvSpPr>
          <p:cNvPr id="24" name="Text 7"/>
          <p:cNvSpPr/>
          <p:nvPr/>
        </p:nvSpPr>
        <p:spPr>
          <a:xfrm>
            <a:off x="740410" y="2353183"/>
            <a:ext cx="3619500" cy="37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enfoque actual infringe políticas de Meta: los anuncios no</a:t>
            </a:r>
            <a:endParaRPr lang="en-US" sz="950" dirty="0"/>
          </a:p>
          <a:p>
            <a:pPr algn="l" indent="0" marL="0">
              <a:lnSpc>
                <a:spcPts val="128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 aprueban y la página opera bajo riesgo de restricción.</a:t>
            </a:r>
            <a:endParaRPr lang="en-US" sz="950" dirty="0"/>
          </a:p>
        </p:txBody>
      </p:sp>
      <p:sp>
        <p:nvSpPr>
          <p:cNvPr id="25" name="Text 8"/>
          <p:cNvSpPr/>
          <p:nvPr/>
        </p:nvSpPr>
        <p:spPr>
          <a:xfrm>
            <a:off x="4892040" y="2284603"/>
            <a:ext cx="3619500" cy="56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4,300 seguidores y 1–2 reacciones por publicación, el</a:t>
            </a:r>
            <a:endParaRPr lang="en-US" sz="950" dirty="0"/>
          </a:p>
          <a:p>
            <a:pPr algn="l" indent="0" marL="0">
              <a:lnSpc>
                <a:spcPts val="113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 limita la distribución incluso a quienes ya los</a:t>
            </a:r>
            <a:endParaRPr lang="en-US" sz="950" dirty="0"/>
          </a:p>
          <a:p>
            <a:pPr algn="l" indent="0" marL="0">
              <a:lnSpc>
                <a:spcPts val="113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siguen.</a:t>
            </a:r>
            <a:endParaRPr lang="en-US" sz="950" dirty="0"/>
          </a:p>
        </p:txBody>
      </p:sp>
      <p:sp>
        <p:nvSpPr>
          <p:cNvPr id="26" name="Text 9"/>
          <p:cNvSpPr/>
          <p:nvPr/>
        </p:nvSpPr>
        <p:spPr>
          <a:xfrm>
            <a:off x="740410" y="4100703"/>
            <a:ext cx="3683000" cy="37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hay una sola foto real del venue: mesas, privados, servicio,</a:t>
            </a:r>
            <a:endParaRPr lang="en-US" sz="95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ambiente. La experiencia no tiene evidencia.</a:t>
            </a:r>
            <a:endParaRPr lang="en-US" sz="950" dirty="0"/>
          </a:p>
        </p:txBody>
      </p:sp>
      <p:sp>
        <p:nvSpPr>
          <p:cNvPr id="27" name="Text 10"/>
          <p:cNvSpPr/>
          <p:nvPr/>
        </p:nvSpPr>
        <p:spPr>
          <a:xfrm>
            <a:off x="4892040" y="4100703"/>
            <a:ext cx="3683000" cy="37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publicación termina sin siguiente paso: no existe flujo</a:t>
            </a:r>
            <a:endParaRPr lang="en-US" sz="95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 reserva ni atención estructurada por WhatsApp.</a:t>
            </a:r>
            <a:endParaRPr lang="en-US" sz="950" dirty="0"/>
          </a:p>
        </p:txBody>
      </p:sp>
      <p:sp>
        <p:nvSpPr>
          <p:cNvPr id="28" name="Text 11"/>
          <p:cNvSpPr/>
          <p:nvPr/>
        </p:nvSpPr>
        <p:spPr>
          <a:xfrm>
            <a:off x="483870" y="4854448"/>
            <a:ext cx="3810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 E D U S S S A . S T U D I O    ×    E X T R A V A G A N C E   C L U B   F O R   M E N</a:t>
            </a:r>
            <a:endParaRPr lang="en-US" sz="700" dirty="0"/>
          </a:p>
        </p:txBody>
      </p:sp>
      <p:sp>
        <p:nvSpPr>
          <p:cNvPr id="29" name="Text 12"/>
          <p:cNvSpPr/>
          <p:nvPr/>
        </p:nvSpPr>
        <p:spPr>
          <a:xfrm>
            <a:off x="8063230" y="4886198"/>
            <a:ext cx="762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- A C E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x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544" y="302260"/>
            <a:ext cx="8172450" cy="371475"/>
          </a:xfrm>
          <a:prstGeom prst="rect">
            <a:avLst/>
          </a:prstGeom>
        </p:spPr>
      </p:pic>
      <p:pic>
        <p:nvPicPr>
          <p:cNvPr id="3" name="Image 1" descr="img/x35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16" y="1255776"/>
            <a:ext cx="2783586" cy="3391662"/>
          </a:xfrm>
          <a:prstGeom prst="rect">
            <a:avLst/>
          </a:prstGeom>
        </p:spPr>
      </p:pic>
      <p:pic>
        <p:nvPicPr>
          <p:cNvPr id="4" name="Image 2" descr="img/x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848" y="1257808"/>
            <a:ext cx="2714625" cy="3314700"/>
          </a:xfrm>
          <a:prstGeom prst="rect">
            <a:avLst/>
          </a:prstGeom>
        </p:spPr>
      </p:pic>
      <p:pic>
        <p:nvPicPr>
          <p:cNvPr id="5" name="Image 3" descr="img/x36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1160" y="1725168"/>
            <a:ext cx="262128" cy="262128"/>
          </a:xfrm>
          <a:prstGeom prst="rect">
            <a:avLst/>
          </a:prstGeom>
        </p:spPr>
      </p:pic>
      <p:pic>
        <p:nvPicPr>
          <p:cNvPr id="6" name="Image 4" descr="img/x7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938" y="2767330"/>
            <a:ext cx="114300" cy="114300"/>
          </a:xfrm>
          <a:prstGeom prst="rect">
            <a:avLst/>
          </a:prstGeom>
        </p:spPr>
      </p:pic>
      <p:pic>
        <p:nvPicPr>
          <p:cNvPr id="7" name="Image 5" descr="img/x7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938" y="3197098"/>
            <a:ext cx="114300" cy="114300"/>
          </a:xfrm>
          <a:prstGeom prst="rect">
            <a:avLst/>
          </a:prstGeom>
        </p:spPr>
      </p:pic>
      <p:pic>
        <p:nvPicPr>
          <p:cNvPr id="8" name="Image 6" descr="img/x7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938" y="3626866"/>
            <a:ext cx="114300" cy="114300"/>
          </a:xfrm>
          <a:prstGeom prst="rect">
            <a:avLst/>
          </a:prstGeom>
        </p:spPr>
      </p:pic>
      <p:pic>
        <p:nvPicPr>
          <p:cNvPr id="9" name="Image 7" descr="img/x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938" y="4056634"/>
            <a:ext cx="114300" cy="114300"/>
          </a:xfrm>
          <a:prstGeom prst="rect">
            <a:avLst/>
          </a:prstGeom>
        </p:spPr>
      </p:pic>
      <p:pic>
        <p:nvPicPr>
          <p:cNvPr id="10" name="Image 8" descr="img/x35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4492" y="1255776"/>
            <a:ext cx="2783586" cy="3391662"/>
          </a:xfrm>
          <a:prstGeom prst="rect">
            <a:avLst/>
          </a:prstGeom>
        </p:spPr>
      </p:pic>
      <p:pic>
        <p:nvPicPr>
          <p:cNvPr id="11" name="Image 9" descr="img/x6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4624" y="1257808"/>
            <a:ext cx="2714625" cy="3314700"/>
          </a:xfrm>
          <a:prstGeom prst="rect">
            <a:avLst/>
          </a:prstGeom>
        </p:spPr>
      </p:pic>
      <p:pic>
        <p:nvPicPr>
          <p:cNvPr id="12" name="Image 10" descr="img/x37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0936" y="1725168"/>
            <a:ext cx="262128" cy="262128"/>
          </a:xfrm>
          <a:prstGeom prst="rect">
            <a:avLst/>
          </a:prstGeom>
        </p:spPr>
      </p:pic>
      <p:pic>
        <p:nvPicPr>
          <p:cNvPr id="13" name="Image 11" descr="img/x7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3714" y="2767330"/>
            <a:ext cx="114300" cy="114300"/>
          </a:xfrm>
          <a:prstGeom prst="rect">
            <a:avLst/>
          </a:prstGeom>
        </p:spPr>
      </p:pic>
      <p:pic>
        <p:nvPicPr>
          <p:cNvPr id="14" name="Image 12" descr="img/x7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3714" y="3197098"/>
            <a:ext cx="114300" cy="114300"/>
          </a:xfrm>
          <a:prstGeom prst="rect">
            <a:avLst/>
          </a:prstGeom>
        </p:spPr>
      </p:pic>
      <p:pic>
        <p:nvPicPr>
          <p:cNvPr id="15" name="Image 13" descr="img/x7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53714" y="3626866"/>
            <a:ext cx="114300" cy="114300"/>
          </a:xfrm>
          <a:prstGeom prst="rect">
            <a:avLst/>
          </a:prstGeom>
        </p:spPr>
      </p:pic>
      <p:pic>
        <p:nvPicPr>
          <p:cNvPr id="16" name="Image 14" descr="img/x7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53714" y="4056634"/>
            <a:ext cx="114300" cy="114300"/>
          </a:xfrm>
          <a:prstGeom prst="rect">
            <a:avLst/>
          </a:prstGeom>
        </p:spPr>
      </p:pic>
      <p:pic>
        <p:nvPicPr>
          <p:cNvPr id="17" name="Image 15" descr="img/x35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54268" y="1255776"/>
            <a:ext cx="2783586" cy="3391662"/>
          </a:xfrm>
          <a:prstGeom prst="rect">
            <a:avLst/>
          </a:prstGeom>
        </p:spPr>
      </p:pic>
      <p:pic>
        <p:nvPicPr>
          <p:cNvPr id="18" name="Image 16" descr="img/x65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94400" y="1257808"/>
            <a:ext cx="2714625" cy="3314700"/>
          </a:xfrm>
          <a:prstGeom prst="rect">
            <a:avLst/>
          </a:prstGeom>
        </p:spPr>
      </p:pic>
      <p:pic>
        <p:nvPicPr>
          <p:cNvPr id="19" name="Image 17" descr="img/x38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20712" y="1725168"/>
            <a:ext cx="262128" cy="262128"/>
          </a:xfrm>
          <a:prstGeom prst="rect">
            <a:avLst/>
          </a:prstGeom>
        </p:spPr>
      </p:pic>
      <p:pic>
        <p:nvPicPr>
          <p:cNvPr id="20" name="Image 18" descr="img/x7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33490" y="2767330"/>
            <a:ext cx="114300" cy="114300"/>
          </a:xfrm>
          <a:prstGeom prst="rect">
            <a:avLst/>
          </a:prstGeom>
        </p:spPr>
      </p:pic>
      <p:pic>
        <p:nvPicPr>
          <p:cNvPr id="21" name="Image 19" descr="img/x70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33490" y="3197098"/>
            <a:ext cx="114300" cy="114300"/>
          </a:xfrm>
          <a:prstGeom prst="rect">
            <a:avLst/>
          </a:prstGeom>
        </p:spPr>
      </p:pic>
      <p:pic>
        <p:nvPicPr>
          <p:cNvPr id="22" name="Image 20" descr="img/x7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33490" y="3626866"/>
            <a:ext cx="114300" cy="114300"/>
          </a:xfrm>
          <a:prstGeom prst="rect">
            <a:avLst/>
          </a:prstGeom>
        </p:spPr>
      </p:pic>
      <p:pic>
        <p:nvPicPr>
          <p:cNvPr id="23" name="Image 21" descr="img/x7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33490" y="4056634"/>
            <a:ext cx="114300" cy="114300"/>
          </a:xfrm>
          <a:prstGeom prst="rect">
            <a:avLst/>
          </a:prstGeom>
        </p:spPr>
      </p:pic>
      <p:pic>
        <p:nvPicPr>
          <p:cNvPr id="24" name="Image 22" descr="img/x7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13649" y="390271"/>
            <a:ext cx="485775" cy="485775"/>
          </a:xfrm>
          <a:prstGeom prst="rect">
            <a:avLst/>
          </a:prstGeom>
        </p:spPr>
      </p:pic>
      <p:pic>
        <p:nvPicPr>
          <p:cNvPr id="25" name="Image 23" descr="img/x72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600569" y="239522"/>
            <a:ext cx="790575" cy="790575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730250" y="401193"/>
            <a:ext cx="2794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 B U D O   D E   R E S E R V A S</a:t>
            </a:r>
            <a:endParaRPr lang="en-US" sz="950" dirty="0"/>
          </a:p>
        </p:txBody>
      </p:sp>
      <p:sp>
        <p:nvSpPr>
          <p:cNvPr id="27" name="Text 1"/>
          <p:cNvSpPr/>
          <p:nvPr/>
        </p:nvSpPr>
        <p:spPr>
          <a:xfrm>
            <a:off x="483870" y="711200"/>
            <a:ext cx="3175000" cy="492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  <a:endParaRPr lang="en-US" sz="2500" dirty="0"/>
          </a:p>
        </p:txBody>
      </p:sp>
      <p:sp>
        <p:nvSpPr>
          <p:cNvPr id="28" name="Text 2"/>
          <p:cNvSpPr/>
          <p:nvPr/>
        </p:nvSpPr>
        <p:spPr>
          <a:xfrm>
            <a:off x="674370" y="2280285"/>
            <a:ext cx="2540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Automatizaciónde WhatsApp</a:t>
            </a:r>
            <a:endParaRPr lang="en-US" sz="1250" dirty="0"/>
          </a:p>
        </p:txBody>
      </p:sp>
      <p:sp>
        <p:nvSpPr>
          <p:cNvPr id="29" name="Text 3"/>
          <p:cNvSpPr/>
          <p:nvPr/>
        </p:nvSpPr>
        <p:spPr>
          <a:xfrm>
            <a:off x="4128770" y="2280285"/>
            <a:ext cx="2032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web</a:t>
            </a:r>
            <a:endParaRPr lang="en-US" sz="1250" dirty="0"/>
          </a:p>
        </p:txBody>
      </p:sp>
      <p:sp>
        <p:nvSpPr>
          <p:cNvPr id="30" name="Text 4"/>
          <p:cNvSpPr/>
          <p:nvPr/>
        </p:nvSpPr>
        <p:spPr>
          <a:xfrm>
            <a:off x="6723380" y="2280285"/>
            <a:ext cx="2032000" cy="246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Business</a:t>
            </a:r>
            <a:endParaRPr lang="en-US" sz="1250" dirty="0"/>
          </a:p>
        </p:txBody>
      </p:sp>
      <p:sp>
        <p:nvSpPr>
          <p:cNvPr id="31" name="Text 5"/>
          <p:cNvSpPr/>
          <p:nvPr/>
        </p:nvSpPr>
        <p:spPr>
          <a:xfrm>
            <a:off x="977900" y="272783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de mesa o privado</a:t>
            </a:r>
            <a:endParaRPr lang="en-US" sz="950" dirty="0"/>
          </a:p>
        </p:txBody>
      </p:sp>
      <p:sp>
        <p:nvSpPr>
          <p:cNvPr id="32" name="Text 6"/>
          <p:cNvSpPr/>
          <p:nvPr/>
        </p:nvSpPr>
        <p:spPr>
          <a:xfrm>
            <a:off x="977900" y="315582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Promos y precios del mes</a:t>
            </a:r>
            <a:endParaRPr lang="en-US" sz="950" dirty="0"/>
          </a:p>
        </p:txBody>
      </p:sp>
      <p:sp>
        <p:nvSpPr>
          <p:cNvPr id="33" name="Text 7"/>
          <p:cNvSpPr/>
          <p:nvPr/>
        </p:nvSpPr>
        <p:spPr>
          <a:xfrm>
            <a:off x="977900" y="358762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y horarios</a:t>
            </a:r>
            <a:endParaRPr lang="en-US" sz="950" dirty="0"/>
          </a:p>
        </p:txBody>
      </p:sp>
      <p:sp>
        <p:nvSpPr>
          <p:cNvPr id="34" name="Text 8"/>
          <p:cNvSpPr/>
          <p:nvPr/>
        </p:nvSpPr>
        <p:spPr>
          <a:xfrm>
            <a:off x="977900" y="3994023"/>
            <a:ext cx="2032000" cy="37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+ recordatorio</a:t>
            </a:r>
            <a:endParaRPr lang="en-US" sz="95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n-US" sz="950" dirty="0"/>
          </a:p>
        </p:txBody>
      </p:sp>
      <p:sp>
        <p:nvSpPr>
          <p:cNvPr id="35" name="Text 9"/>
          <p:cNvSpPr/>
          <p:nvPr/>
        </p:nvSpPr>
        <p:spPr>
          <a:xfrm>
            <a:off x="3755390" y="274942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real del venue</a:t>
            </a:r>
            <a:endParaRPr lang="en-US" sz="950" dirty="0"/>
          </a:p>
        </p:txBody>
      </p:sp>
      <p:sp>
        <p:nvSpPr>
          <p:cNvPr id="36" name="Text 10"/>
          <p:cNvSpPr/>
          <p:nvPr/>
        </p:nvSpPr>
        <p:spPr>
          <a:xfrm>
            <a:off x="3755390" y="318122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botellas y promos</a:t>
            </a:r>
            <a:endParaRPr lang="en-US" sz="950" dirty="0"/>
          </a:p>
        </p:txBody>
      </p:sp>
      <p:sp>
        <p:nvSpPr>
          <p:cNvPr id="37" name="Text 11"/>
          <p:cNvSpPr/>
          <p:nvPr/>
        </p:nvSpPr>
        <p:spPr>
          <a:xfrm>
            <a:off x="3755390" y="360921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de reserva directo</a:t>
            </a:r>
            <a:endParaRPr lang="en-US" sz="950" dirty="0"/>
          </a:p>
        </p:txBody>
      </p:sp>
      <p:sp>
        <p:nvSpPr>
          <p:cNvPr id="38" name="Text 12"/>
          <p:cNvSpPr/>
          <p:nvPr/>
        </p:nvSpPr>
        <p:spPr>
          <a:xfrm>
            <a:off x="3755390" y="403720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destino de toda la pauta</a:t>
            </a:r>
            <a:endParaRPr lang="en-US" sz="950" dirty="0"/>
          </a:p>
        </p:txBody>
      </p:sp>
      <p:sp>
        <p:nvSpPr>
          <p:cNvPr id="39" name="Text 13"/>
          <p:cNvSpPr/>
          <p:nvPr/>
        </p:nvSpPr>
        <p:spPr>
          <a:xfrm>
            <a:off x="6537960" y="274942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optimizado</a:t>
            </a:r>
            <a:endParaRPr lang="en-US" sz="950" dirty="0"/>
          </a:p>
        </p:txBody>
      </p:sp>
      <p:sp>
        <p:nvSpPr>
          <p:cNvPr id="40" name="Text 14"/>
          <p:cNvSpPr/>
          <p:nvPr/>
        </p:nvSpPr>
        <p:spPr>
          <a:xfrm>
            <a:off x="6535420" y="314566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reales del lugar</a:t>
            </a:r>
            <a:endParaRPr lang="en-US" sz="950" dirty="0"/>
          </a:p>
        </p:txBody>
      </p:sp>
      <p:sp>
        <p:nvSpPr>
          <p:cNvPr id="41" name="Text 15"/>
          <p:cNvSpPr/>
          <p:nvPr/>
        </p:nvSpPr>
        <p:spPr>
          <a:xfrm>
            <a:off x="6535420" y="3597783"/>
            <a:ext cx="2032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reseñas</a:t>
            </a:r>
            <a:endParaRPr lang="en-US" sz="950" dirty="0"/>
          </a:p>
        </p:txBody>
      </p:sp>
      <p:sp>
        <p:nvSpPr>
          <p:cNvPr id="42" name="Text 16"/>
          <p:cNvSpPr/>
          <p:nvPr/>
        </p:nvSpPr>
        <p:spPr>
          <a:xfrm>
            <a:off x="6537960" y="4011803"/>
            <a:ext cx="2032000" cy="37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Descubrimiento en Google y</a:t>
            </a:r>
            <a:endParaRPr lang="en-US" sz="950" dirty="0"/>
          </a:p>
          <a:p>
            <a:pPr algn="l" indent="0" marL="0">
              <a:lnSpc>
                <a:spcPts val="1130"/>
              </a:lnSpc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50" dirty="0"/>
          </a:p>
        </p:txBody>
      </p:sp>
      <p:sp>
        <p:nvSpPr>
          <p:cNvPr id="43" name="Text 17"/>
          <p:cNvSpPr/>
          <p:nvPr/>
        </p:nvSpPr>
        <p:spPr>
          <a:xfrm>
            <a:off x="483870" y="4881118"/>
            <a:ext cx="3810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    ×    E X T R A V A G A N C E   C L U B   F O R   M E N</a:t>
            </a:r>
            <a:endParaRPr lang="en-US" sz="700" dirty="0"/>
          </a:p>
        </p:txBody>
      </p:sp>
      <p:sp>
        <p:nvSpPr>
          <p:cNvPr id="44" name="Text 18"/>
          <p:cNvSpPr/>
          <p:nvPr/>
        </p:nvSpPr>
        <p:spPr>
          <a:xfrm>
            <a:off x="8063230" y="4886198"/>
            <a:ext cx="762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- A C E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x39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5250" cy="95250"/>
          </a:xfrm>
          <a:prstGeom prst="rect">
            <a:avLst/>
          </a:prstGeom>
        </p:spPr>
      </p:pic>
      <p:pic>
        <p:nvPicPr>
          <p:cNvPr id="3" name="Image 1" descr="img/x7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0" y="-63500"/>
            <a:ext cx="9267825" cy="5267325"/>
          </a:xfrm>
          <a:prstGeom prst="rect">
            <a:avLst/>
          </a:prstGeom>
        </p:spPr>
      </p:pic>
      <p:pic>
        <p:nvPicPr>
          <p:cNvPr id="4" name="Image 2" descr="img/x39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" y="1255776"/>
            <a:ext cx="3089910" cy="3641344"/>
          </a:xfrm>
          <a:prstGeom prst="rect">
            <a:avLst/>
          </a:prstGeom>
        </p:spPr>
      </p:pic>
      <p:pic>
        <p:nvPicPr>
          <p:cNvPr id="5" name="Image 3" descr="img/x7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464" y="1257808"/>
            <a:ext cx="3019425" cy="3562350"/>
          </a:xfrm>
          <a:prstGeom prst="rect">
            <a:avLst/>
          </a:prstGeom>
        </p:spPr>
      </p:pic>
      <p:pic>
        <p:nvPicPr>
          <p:cNvPr id="6" name="Image 4" descr="img/x8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1499616"/>
            <a:ext cx="419100" cy="419100"/>
          </a:xfrm>
          <a:prstGeom prst="rect">
            <a:avLst/>
          </a:prstGeom>
        </p:spPr>
      </p:pic>
      <p:pic>
        <p:nvPicPr>
          <p:cNvPr id="7" name="Image 5" descr="img/x8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4448" y="2386584"/>
            <a:ext cx="419100" cy="419100"/>
          </a:xfrm>
          <a:prstGeom prst="rect">
            <a:avLst/>
          </a:prstGeom>
        </p:spPr>
      </p:pic>
      <p:pic>
        <p:nvPicPr>
          <p:cNvPr id="8" name="Image 6" descr="img/x8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4448" y="3273552"/>
            <a:ext cx="419100" cy="419100"/>
          </a:xfrm>
          <a:prstGeom prst="rect">
            <a:avLst/>
          </a:prstGeom>
        </p:spPr>
      </p:pic>
      <p:pic>
        <p:nvPicPr>
          <p:cNvPr id="9" name="Image 7" descr="img/x8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4448" y="4160520"/>
            <a:ext cx="419100" cy="419100"/>
          </a:xfrm>
          <a:prstGeom prst="rect">
            <a:avLst/>
          </a:prstGeom>
        </p:spPr>
      </p:pic>
      <p:pic>
        <p:nvPicPr>
          <p:cNvPr id="10" name="Image 8" descr="img/x40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98748" y="1613916"/>
            <a:ext cx="192024" cy="192024"/>
          </a:xfrm>
          <a:prstGeom prst="rect">
            <a:avLst/>
          </a:prstGeom>
        </p:spPr>
      </p:pic>
      <p:pic>
        <p:nvPicPr>
          <p:cNvPr id="11" name="Image 9" descr="img/x41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98748" y="2500884"/>
            <a:ext cx="192024" cy="192024"/>
          </a:xfrm>
          <a:prstGeom prst="rect">
            <a:avLst/>
          </a:prstGeom>
        </p:spPr>
      </p:pic>
      <p:pic>
        <p:nvPicPr>
          <p:cNvPr id="12" name="Image 10" descr="img/x41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98748" y="4274820"/>
            <a:ext cx="192024" cy="192024"/>
          </a:xfrm>
          <a:prstGeom prst="rect">
            <a:avLst/>
          </a:prstGeom>
        </p:spPr>
      </p:pic>
      <p:pic>
        <p:nvPicPr>
          <p:cNvPr id="13" name="Image 11" descr="img/x41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368" y="3392424"/>
            <a:ext cx="184404" cy="185801"/>
          </a:xfrm>
          <a:prstGeom prst="rect">
            <a:avLst/>
          </a:prstGeom>
        </p:spPr>
      </p:pic>
      <p:pic>
        <p:nvPicPr>
          <p:cNvPr id="14" name="Image 12" descr="img/x8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89011" y="390271"/>
            <a:ext cx="485775" cy="485775"/>
          </a:xfrm>
          <a:prstGeom prst="rect">
            <a:avLst/>
          </a:prstGeom>
        </p:spPr>
      </p:pic>
      <p:pic>
        <p:nvPicPr>
          <p:cNvPr id="15" name="Image 13" descr="img/x8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0569" y="239522"/>
            <a:ext cx="790575" cy="790575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730250" y="378333"/>
            <a:ext cx="2540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9C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 R O D U C C I Ó N</a:t>
            </a:r>
            <a:endParaRPr lang="en-US" sz="950" dirty="0"/>
          </a:p>
        </p:txBody>
      </p:sp>
      <p:sp>
        <p:nvSpPr>
          <p:cNvPr id="17" name="Text 1"/>
          <p:cNvSpPr/>
          <p:nvPr/>
        </p:nvSpPr>
        <p:spPr>
          <a:xfrm>
            <a:off x="483870" y="599440"/>
            <a:ext cx="5080000" cy="492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Contenido y producción</a:t>
            </a:r>
            <a:endParaRPr lang="en-US" sz="2500" dirty="0"/>
          </a:p>
        </p:txBody>
      </p:sp>
      <p:sp>
        <p:nvSpPr>
          <p:cNvPr id="18" name="Text 2"/>
          <p:cNvSpPr/>
          <p:nvPr/>
        </p:nvSpPr>
        <p:spPr>
          <a:xfrm>
            <a:off x="621030" y="1366520"/>
            <a:ext cx="2032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8000" dirty="0"/>
          </a:p>
        </p:txBody>
      </p:sp>
      <p:sp>
        <p:nvSpPr>
          <p:cNvPr id="19" name="Text 3"/>
          <p:cNvSpPr/>
          <p:nvPr/>
        </p:nvSpPr>
        <p:spPr>
          <a:xfrm>
            <a:off x="657860" y="2724048"/>
            <a:ext cx="2540000" cy="208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009C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PIEZAS DE FEED AL MES</a:t>
            </a:r>
            <a:endParaRPr lang="en-US" sz="1060" dirty="0"/>
          </a:p>
        </p:txBody>
      </p:sp>
      <p:sp>
        <p:nvSpPr>
          <p:cNvPr id="20" name="Text 4"/>
          <p:cNvSpPr/>
          <p:nvPr/>
        </p:nvSpPr>
        <p:spPr>
          <a:xfrm>
            <a:off x="1060450" y="3302762"/>
            <a:ext cx="508000" cy="25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5"/>
          <p:cNvSpPr/>
          <p:nvPr/>
        </p:nvSpPr>
        <p:spPr>
          <a:xfrm>
            <a:off x="1221740" y="3366643"/>
            <a:ext cx="1524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Videos</a:t>
            </a:r>
            <a:endParaRPr lang="en-US" sz="950" dirty="0"/>
          </a:p>
        </p:txBody>
      </p:sp>
      <p:sp>
        <p:nvSpPr>
          <p:cNvPr id="22" name="Text 6"/>
          <p:cNvSpPr/>
          <p:nvPr/>
        </p:nvSpPr>
        <p:spPr>
          <a:xfrm>
            <a:off x="1060450" y="3742182"/>
            <a:ext cx="508000" cy="25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7"/>
          <p:cNvSpPr/>
          <p:nvPr/>
        </p:nvSpPr>
        <p:spPr>
          <a:xfrm>
            <a:off x="1221740" y="3804793"/>
            <a:ext cx="2159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 de imágenes promocionales</a:t>
            </a:r>
            <a:endParaRPr lang="en-US" sz="950" dirty="0"/>
          </a:p>
        </p:txBody>
      </p:sp>
      <p:sp>
        <p:nvSpPr>
          <p:cNvPr id="24" name="Text 8"/>
          <p:cNvSpPr/>
          <p:nvPr/>
        </p:nvSpPr>
        <p:spPr>
          <a:xfrm>
            <a:off x="1060450" y="4181602"/>
            <a:ext cx="508000" cy="25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9"/>
          <p:cNvSpPr/>
          <p:nvPr/>
        </p:nvSpPr>
        <p:spPr>
          <a:xfrm>
            <a:off x="1220470" y="4244213"/>
            <a:ext cx="2159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Plantillas de historias</a:t>
            </a:r>
            <a:endParaRPr lang="en-US" sz="950" dirty="0"/>
          </a:p>
        </p:txBody>
      </p:sp>
      <p:sp>
        <p:nvSpPr>
          <p:cNvPr id="26" name="Text 10"/>
          <p:cNvSpPr/>
          <p:nvPr/>
        </p:nvSpPr>
        <p:spPr>
          <a:xfrm>
            <a:off x="4188460" y="1582801"/>
            <a:ext cx="4191000" cy="22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Historias diarias</a:t>
            </a:r>
            <a:pPr algn="l" indent="0" marL="0">
              <a:buNone/>
            </a:pPr>
            <a:r>
              <a:rPr lang="en-US" sz="120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—Plantillas para hisotrias promocionales</a:t>
            </a:r>
            <a:endParaRPr lang="en-US" sz="1150" dirty="0"/>
          </a:p>
        </p:txBody>
      </p:sp>
      <p:sp>
        <p:nvSpPr>
          <p:cNvPr id="27" name="Text 11"/>
          <p:cNvSpPr/>
          <p:nvPr/>
        </p:nvSpPr>
        <p:spPr>
          <a:xfrm>
            <a:off x="4188460" y="2374138"/>
            <a:ext cx="4191000" cy="708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producción mensual foto + video</a:t>
            </a:r>
            <a:pPr algn="l" indent="0" marL="0">
              <a:lnSpc>
                <a:spcPts val="1430"/>
              </a:lnSpc>
              <a:buNone/>
            </a:pPr>
            <a:r>
              <a:rPr lang="en-US" sz="120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—Botellas, privados,</a:t>
            </a:r>
            <a:endParaRPr lang="en-US" sz="12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20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staff,</a:t>
            </a:r>
            <a:endParaRPr lang="en-US" sz="12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06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coctelería y detalledel lugar. (camara, luces, microfonos, dron,)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4188460" y="3263138"/>
            <a:ext cx="4191000" cy="472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Calendarioeditorial mensual</a:t>
            </a:r>
            <a:pPr algn="l" indent="0" marL="0">
              <a:lnSpc>
                <a:spcPts val="1420"/>
              </a:lnSpc>
              <a:buNone/>
            </a:pPr>
            <a:r>
              <a:rPr lang="en-US" sz="110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—Planificado y aprobado con</a:t>
            </a:r>
            <a:endParaRPr lang="en-US" sz="1200" dirty="0"/>
          </a:p>
          <a:p>
            <a:pPr algn="l" indent="0" marL="0">
              <a:lnSpc>
                <a:spcPts val="1420"/>
              </a:lnSpc>
              <a:buNone/>
            </a:pPr>
            <a:r>
              <a:rPr lang="en-US" sz="111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ustedes antes de publicar.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4188460" y="4139438"/>
            <a:ext cx="4191000" cy="472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Reportemensualde marca</a:t>
            </a:r>
            <a:pPr algn="l" indent="0" marL="0">
              <a:lnSpc>
                <a:spcPts val="1430"/>
              </a:lnSpc>
              <a:buNone/>
            </a:pPr>
            <a:r>
              <a:rPr lang="en-US" sz="120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—Resultados de contenido,</a:t>
            </a:r>
            <a:endParaRPr lang="en-US" sz="12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200" dirty="0">
                <a:solidFill>
                  <a:srgbClr val="A9AF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pauta y conversaciones de reserva.</a:t>
            </a: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483870" y="4854448"/>
            <a:ext cx="3810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 E D U S S S A . S T U D I O    ×    E X T R A V A G A N C E</a:t>
            </a:r>
            <a:endParaRPr lang="en-US" sz="700" dirty="0"/>
          </a:p>
        </p:txBody>
      </p:sp>
      <p:sp>
        <p:nvSpPr>
          <p:cNvPr id="31" name="Text 15"/>
          <p:cNvSpPr/>
          <p:nvPr/>
        </p:nvSpPr>
        <p:spPr>
          <a:xfrm>
            <a:off x="8063230" y="4886198"/>
            <a:ext cx="762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- A C 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x4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5250" cy="95250"/>
          </a:xfrm>
          <a:prstGeom prst="rect">
            <a:avLst/>
          </a:prstGeom>
        </p:spPr>
      </p:pic>
      <p:pic>
        <p:nvPicPr>
          <p:cNvPr id="3" name="Image 1" descr="img/x9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0" y="-63500"/>
            <a:ext cx="9267825" cy="5267325"/>
          </a:xfrm>
          <a:prstGeom prst="rect">
            <a:avLst/>
          </a:prstGeom>
        </p:spPr>
      </p:pic>
      <p:pic>
        <p:nvPicPr>
          <p:cNvPr id="4" name="Image 2" descr="img/x42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716" y="1347216"/>
            <a:ext cx="8349107" cy="959358"/>
          </a:xfrm>
          <a:prstGeom prst="rect">
            <a:avLst/>
          </a:prstGeom>
        </p:spPr>
      </p:pic>
      <p:pic>
        <p:nvPicPr>
          <p:cNvPr id="5" name="Image 3" descr="img/x1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48" y="1349248"/>
            <a:ext cx="8277225" cy="885825"/>
          </a:xfrm>
          <a:prstGeom prst="rect">
            <a:avLst/>
          </a:prstGeom>
        </p:spPr>
      </p:pic>
      <p:pic>
        <p:nvPicPr>
          <p:cNvPr id="6" name="Image 4" descr="img/x43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012" y="1699260"/>
            <a:ext cx="185928" cy="185928"/>
          </a:xfrm>
          <a:prstGeom prst="rect">
            <a:avLst/>
          </a:prstGeom>
        </p:spPr>
      </p:pic>
      <p:pic>
        <p:nvPicPr>
          <p:cNvPr id="7" name="Image 5" descr="img/x42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716" y="2206752"/>
            <a:ext cx="8349107" cy="959358"/>
          </a:xfrm>
          <a:prstGeom prst="rect">
            <a:avLst/>
          </a:prstGeom>
        </p:spPr>
      </p:pic>
      <p:pic>
        <p:nvPicPr>
          <p:cNvPr id="8" name="Image 6" descr="img/x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848" y="2208784"/>
            <a:ext cx="8277225" cy="885825"/>
          </a:xfrm>
          <a:prstGeom prst="rect">
            <a:avLst/>
          </a:prstGeom>
        </p:spPr>
      </p:pic>
      <p:pic>
        <p:nvPicPr>
          <p:cNvPr id="9" name="Image 7" descr="img/x43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012" y="2558796"/>
            <a:ext cx="185928" cy="185928"/>
          </a:xfrm>
          <a:prstGeom prst="rect">
            <a:avLst/>
          </a:prstGeom>
        </p:spPr>
      </p:pic>
      <p:pic>
        <p:nvPicPr>
          <p:cNvPr id="10" name="Image 8" descr="img/x42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4716" y="3066288"/>
            <a:ext cx="8349107" cy="959358"/>
          </a:xfrm>
          <a:prstGeom prst="rect">
            <a:avLst/>
          </a:prstGeom>
        </p:spPr>
      </p:pic>
      <p:pic>
        <p:nvPicPr>
          <p:cNvPr id="11" name="Image 9" descr="img/x10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848" y="3068320"/>
            <a:ext cx="8277225" cy="885825"/>
          </a:xfrm>
          <a:prstGeom prst="rect">
            <a:avLst/>
          </a:prstGeom>
        </p:spPr>
      </p:pic>
      <p:pic>
        <p:nvPicPr>
          <p:cNvPr id="12" name="Image 10" descr="img/x44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8012" y="3418332"/>
            <a:ext cx="185928" cy="185928"/>
          </a:xfrm>
          <a:prstGeom prst="rect">
            <a:avLst/>
          </a:prstGeom>
        </p:spPr>
      </p:pic>
      <p:pic>
        <p:nvPicPr>
          <p:cNvPr id="13" name="Image 11" descr="img/x42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4716" y="3925824"/>
            <a:ext cx="8349107" cy="959358"/>
          </a:xfrm>
          <a:prstGeom prst="rect">
            <a:avLst/>
          </a:prstGeom>
        </p:spPr>
      </p:pic>
      <p:pic>
        <p:nvPicPr>
          <p:cNvPr id="14" name="Image 12" descr="img/x105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848" y="3927856"/>
            <a:ext cx="8277225" cy="885825"/>
          </a:xfrm>
          <a:prstGeom prst="rect">
            <a:avLst/>
          </a:prstGeom>
        </p:spPr>
      </p:pic>
      <p:pic>
        <p:nvPicPr>
          <p:cNvPr id="15" name="Image 13" descr="img/x45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8012" y="4277868"/>
            <a:ext cx="185928" cy="185928"/>
          </a:xfrm>
          <a:prstGeom prst="rect">
            <a:avLst/>
          </a:prstGeom>
        </p:spPr>
      </p:pic>
      <p:pic>
        <p:nvPicPr>
          <p:cNvPr id="16" name="Image 14" descr="img/x10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13649" y="390271"/>
            <a:ext cx="485775" cy="485775"/>
          </a:xfrm>
          <a:prstGeom prst="rect">
            <a:avLst/>
          </a:prstGeom>
        </p:spPr>
      </p:pic>
      <p:pic>
        <p:nvPicPr>
          <p:cNvPr id="17" name="Image 15" descr="img/x10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07427" y="239522"/>
            <a:ext cx="790575" cy="790575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730250" y="403733"/>
            <a:ext cx="3175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e s t i o n   d e   c o m u n i d a d</a:t>
            </a:r>
            <a:endParaRPr lang="en-US" sz="950" dirty="0"/>
          </a:p>
        </p:txBody>
      </p:sp>
      <p:sp>
        <p:nvSpPr>
          <p:cNvPr id="19" name="Text 1"/>
          <p:cNvSpPr/>
          <p:nvPr/>
        </p:nvSpPr>
        <p:spPr>
          <a:xfrm>
            <a:off x="483870" y="697992"/>
            <a:ext cx="5080000" cy="551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Manager</a:t>
            </a:r>
            <a:endParaRPr lang="en-US" sz="2800" dirty="0"/>
          </a:p>
        </p:txBody>
      </p:sp>
      <p:sp>
        <p:nvSpPr>
          <p:cNvPr id="20" name="Text 2"/>
          <p:cNvSpPr/>
          <p:nvPr/>
        </p:nvSpPr>
        <p:spPr>
          <a:xfrm>
            <a:off x="1334770" y="1617091"/>
            <a:ext cx="7112000" cy="22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completa</a:t>
            </a:r>
            <a:pPr algn="l" indent="0" marL="0">
              <a:buNone/>
            </a:pPr>
            <a:r>
              <a:rPr lang="en-US" sz="106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—Facebook e Instagram, moderacióny atencióna comentariosy mensajes</a:t>
            </a:r>
            <a:endParaRPr lang="en-US" sz="1150" dirty="0"/>
          </a:p>
        </p:txBody>
      </p:sp>
      <p:sp>
        <p:nvSpPr>
          <p:cNvPr id="21" name="Text 3"/>
          <p:cNvSpPr/>
          <p:nvPr/>
        </p:nvSpPr>
        <p:spPr>
          <a:xfrm>
            <a:off x="1334770" y="2483231"/>
            <a:ext cx="7112000" cy="22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Clientespotenciales</a:t>
            </a:r>
            <a:pPr algn="l" indent="0" marL="0">
              <a:buNone/>
            </a:pPr>
            <a:r>
              <a:rPr lang="en-US" sz="106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Gestionar comunidad</a:t>
            </a:r>
            <a:pPr algn="l" indent="0" marL="0">
              <a:buNone/>
            </a:pPr>
            <a:r>
              <a:rPr lang="en-US" sz="1150" dirty="0">
                <a:solidFill>
                  <a:srgbClr val="AF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y</a:t>
            </a:r>
            <a:pPr algn="l" indent="0" marL="0">
              <a:buNone/>
            </a:pPr>
            <a:r>
              <a:rPr lang="en-US" sz="1060" dirty="0">
                <a:solidFill>
                  <a:srgbClr val="AF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Personalidadde marca</a:t>
            </a:r>
            <a:endParaRPr lang="en-US" sz="1150" dirty="0"/>
          </a:p>
        </p:txBody>
      </p:sp>
      <p:sp>
        <p:nvSpPr>
          <p:cNvPr id="22" name="Text 4"/>
          <p:cNvSpPr/>
          <p:nvPr/>
        </p:nvSpPr>
        <p:spPr>
          <a:xfrm>
            <a:off x="1334770" y="3426841"/>
            <a:ext cx="7112000" cy="22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que cierra reservas</a:t>
            </a:r>
            <a:pPr algn="l" indent="0" marL="0">
              <a:buNone/>
            </a:pPr>
            <a:r>
              <a:rPr lang="en-US" sz="106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—Cada conversación se guía hacia mesa, privado o promo vigente.</a:t>
            </a:r>
            <a:endParaRPr lang="en-US" sz="1150" dirty="0"/>
          </a:p>
        </p:txBody>
      </p:sp>
      <p:sp>
        <p:nvSpPr>
          <p:cNvPr id="23" name="Text 5"/>
          <p:cNvSpPr/>
          <p:nvPr/>
        </p:nvSpPr>
        <p:spPr>
          <a:xfrm>
            <a:off x="1334770" y="4286631"/>
            <a:ext cx="7112000" cy="22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directa con el club</a:t>
            </a:r>
            <a:pPr algn="l" indent="0" marL="0">
              <a:buNone/>
            </a:pPr>
            <a:r>
              <a:rPr lang="en-US" sz="106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—Coordinación de promos, cortesías y reservas especiales en tiempo real.</a:t>
            </a:r>
            <a:endParaRPr lang="en-US" sz="1150" dirty="0"/>
          </a:p>
        </p:txBody>
      </p:sp>
      <p:sp>
        <p:nvSpPr>
          <p:cNvPr id="24" name="Text 6"/>
          <p:cNvSpPr/>
          <p:nvPr/>
        </p:nvSpPr>
        <p:spPr>
          <a:xfrm>
            <a:off x="483870" y="4881118"/>
            <a:ext cx="3810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    ×    E X T R A V A G A N C E</a:t>
            </a:r>
            <a:endParaRPr lang="en-US" sz="700" dirty="0"/>
          </a:p>
        </p:txBody>
      </p:sp>
      <p:sp>
        <p:nvSpPr>
          <p:cNvPr id="25" name="Text 7"/>
          <p:cNvSpPr/>
          <p:nvPr/>
        </p:nvSpPr>
        <p:spPr>
          <a:xfrm>
            <a:off x="8063230" y="4886198"/>
            <a:ext cx="762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- A C E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x1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044" y="387604"/>
            <a:ext cx="190500" cy="190500"/>
          </a:xfrm>
          <a:prstGeom prst="rect">
            <a:avLst/>
          </a:prstGeom>
        </p:spPr>
      </p:pic>
      <p:pic>
        <p:nvPicPr>
          <p:cNvPr id="3" name="Image 1" descr="img/x46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16" y="1283208"/>
            <a:ext cx="4194810" cy="2815590"/>
          </a:xfrm>
          <a:prstGeom prst="rect">
            <a:avLst/>
          </a:prstGeom>
        </p:spPr>
      </p:pic>
      <p:pic>
        <p:nvPicPr>
          <p:cNvPr id="4" name="Image 2" descr="img/x1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848" y="1285240"/>
            <a:ext cx="4124325" cy="2743200"/>
          </a:xfrm>
          <a:prstGeom prst="rect">
            <a:avLst/>
          </a:prstGeom>
        </p:spPr>
      </p:pic>
      <p:pic>
        <p:nvPicPr>
          <p:cNvPr id="5" name="Image 3" descr="img/x46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520" y="891540"/>
            <a:ext cx="4211574" cy="3213354"/>
          </a:xfrm>
          <a:prstGeom prst="rect">
            <a:avLst/>
          </a:prstGeom>
        </p:spPr>
      </p:pic>
      <p:pic>
        <p:nvPicPr>
          <p:cNvPr id="6" name="Image 4" descr="img/x1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652" y="893572"/>
            <a:ext cx="4133850" cy="3143250"/>
          </a:xfrm>
          <a:prstGeom prst="rect">
            <a:avLst/>
          </a:prstGeom>
        </p:spPr>
      </p:pic>
      <p:pic>
        <p:nvPicPr>
          <p:cNvPr id="7" name="Image 5" descr="img/x46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716" y="4090416"/>
            <a:ext cx="8347075" cy="776478"/>
          </a:xfrm>
          <a:prstGeom prst="rect">
            <a:avLst/>
          </a:prstGeom>
        </p:spPr>
      </p:pic>
      <p:pic>
        <p:nvPicPr>
          <p:cNvPr id="8" name="Image 6" descr="img/x11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848" y="4092448"/>
            <a:ext cx="8277225" cy="704850"/>
          </a:xfrm>
          <a:prstGeom prst="rect">
            <a:avLst/>
          </a:prstGeom>
        </p:spPr>
      </p:pic>
      <p:pic>
        <p:nvPicPr>
          <p:cNvPr id="9" name="Image 7" descr="img/x47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912" y="4367784"/>
            <a:ext cx="152400" cy="152400"/>
          </a:xfrm>
          <a:prstGeom prst="rect">
            <a:avLst/>
          </a:prstGeom>
        </p:spPr>
      </p:pic>
      <p:pic>
        <p:nvPicPr>
          <p:cNvPr id="10" name="Image 8" descr="img/x12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3649" y="387604"/>
            <a:ext cx="485775" cy="485775"/>
          </a:xfrm>
          <a:prstGeom prst="rect">
            <a:avLst/>
          </a:prstGeom>
        </p:spPr>
      </p:pic>
      <p:pic>
        <p:nvPicPr>
          <p:cNvPr id="11" name="Image 9" descr="img/x12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9652" y="236855"/>
            <a:ext cx="790575" cy="790575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730250" y="401193"/>
            <a:ext cx="2540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 V E R S I Ó N</a:t>
            </a:r>
            <a:endParaRPr lang="en-US" sz="950" dirty="0"/>
          </a:p>
        </p:txBody>
      </p:sp>
      <p:sp>
        <p:nvSpPr>
          <p:cNvPr id="13" name="Text 1"/>
          <p:cNvSpPr/>
          <p:nvPr/>
        </p:nvSpPr>
        <p:spPr>
          <a:xfrm>
            <a:off x="483870" y="711200"/>
            <a:ext cx="3810000" cy="492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cuesta?</a:t>
            </a:r>
            <a:endParaRPr lang="en-US" sz="2500" dirty="0"/>
          </a:p>
        </p:txBody>
      </p:sp>
      <p:sp>
        <p:nvSpPr>
          <p:cNvPr id="14" name="Text 2"/>
          <p:cNvSpPr/>
          <p:nvPr/>
        </p:nvSpPr>
        <p:spPr>
          <a:xfrm>
            <a:off x="758190" y="1631848"/>
            <a:ext cx="2540000" cy="208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O   Q U E   I N C L U Y E</a:t>
            </a:r>
            <a:endParaRPr lang="en-US" sz="1060" dirty="0"/>
          </a:p>
        </p:txBody>
      </p:sp>
      <p:sp>
        <p:nvSpPr>
          <p:cNvPr id="15" name="Text 3"/>
          <p:cNvSpPr/>
          <p:nvPr/>
        </p:nvSpPr>
        <p:spPr>
          <a:xfrm>
            <a:off x="953770" y="1998980"/>
            <a:ext cx="304800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línea de comunicación</a:t>
            </a:r>
            <a:endParaRPr lang="en-US" sz="1000" dirty="0"/>
          </a:p>
        </p:txBody>
      </p:sp>
      <p:sp>
        <p:nvSpPr>
          <p:cNvPr id="16" name="Text 4"/>
          <p:cNvSpPr/>
          <p:nvPr/>
        </p:nvSpPr>
        <p:spPr>
          <a:xfrm>
            <a:off x="953770" y="2382520"/>
            <a:ext cx="304800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Contenidoy Pauta: embudo completo en Meta</a:t>
            </a:r>
            <a:endParaRPr lang="en-US" sz="1000" dirty="0"/>
          </a:p>
        </p:txBody>
      </p:sp>
      <p:sp>
        <p:nvSpPr>
          <p:cNvPr id="17" name="Text 5"/>
          <p:cNvSpPr/>
          <p:nvPr/>
        </p:nvSpPr>
        <p:spPr>
          <a:xfrm>
            <a:off x="953770" y="2766060"/>
            <a:ext cx="304800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Automatization WhatsApp con reservas</a:t>
            </a:r>
            <a:endParaRPr lang="en-US" sz="1000" dirty="0"/>
          </a:p>
        </p:txBody>
      </p:sp>
      <p:sp>
        <p:nvSpPr>
          <p:cNvPr id="18" name="Text 6"/>
          <p:cNvSpPr/>
          <p:nvPr/>
        </p:nvSpPr>
        <p:spPr>
          <a:xfrm>
            <a:off x="953770" y="3152140"/>
            <a:ext cx="304800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web del club</a:t>
            </a:r>
            <a:endParaRPr lang="en-US" sz="1000" dirty="0"/>
          </a:p>
        </p:txBody>
      </p:sp>
      <p:sp>
        <p:nvSpPr>
          <p:cNvPr id="19" name="Text 7"/>
          <p:cNvSpPr/>
          <p:nvPr/>
        </p:nvSpPr>
        <p:spPr>
          <a:xfrm>
            <a:off x="953770" y="3535680"/>
            <a:ext cx="304800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Business optimizado</a:t>
            </a:r>
            <a:endParaRPr lang="en-US" sz="1000" dirty="0"/>
          </a:p>
        </p:txBody>
      </p:sp>
      <p:sp>
        <p:nvSpPr>
          <p:cNvPr id="20" name="Text 8"/>
          <p:cNvSpPr/>
          <p:nvPr/>
        </p:nvSpPr>
        <p:spPr>
          <a:xfrm>
            <a:off x="4889500" y="1074318"/>
            <a:ext cx="2794000" cy="208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O N O R A R I O S   N O R M A L E S</a:t>
            </a:r>
            <a:endParaRPr lang="en-US" sz="1060" dirty="0"/>
          </a:p>
        </p:txBody>
      </p:sp>
      <p:sp>
        <p:nvSpPr>
          <p:cNvPr id="21" name="Text 9"/>
          <p:cNvSpPr/>
          <p:nvPr/>
        </p:nvSpPr>
        <p:spPr>
          <a:xfrm>
            <a:off x="4889500" y="1349248"/>
            <a:ext cx="3302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D0CE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$17,000 Pesos</a:t>
            </a:r>
            <a:endParaRPr lang="en-US" sz="3200" dirty="0"/>
          </a:p>
        </p:txBody>
      </p:sp>
      <p:sp>
        <p:nvSpPr>
          <p:cNvPr id="22" name="Text 10"/>
          <p:cNvSpPr/>
          <p:nvPr/>
        </p:nvSpPr>
        <p:spPr>
          <a:xfrm>
            <a:off x="4889500" y="1893468"/>
            <a:ext cx="3048000" cy="208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O N O R A R I O S   C O N   D E S C U E N T O</a:t>
            </a:r>
            <a:endParaRPr lang="en-US" sz="1060" dirty="0"/>
          </a:p>
        </p:txBody>
      </p:sp>
      <p:sp>
        <p:nvSpPr>
          <p:cNvPr id="23" name="Text 11"/>
          <p:cNvSpPr/>
          <p:nvPr/>
        </p:nvSpPr>
        <p:spPr>
          <a:xfrm>
            <a:off x="4889500" y="2171954"/>
            <a:ext cx="355600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$14,000 Pesos</a:t>
            </a:r>
            <a:endParaRPr lang="en-US" sz="3600" dirty="0"/>
          </a:p>
        </p:txBody>
      </p:sp>
      <p:sp>
        <p:nvSpPr>
          <p:cNvPr id="24" name="Text 12"/>
          <p:cNvSpPr/>
          <p:nvPr/>
        </p:nvSpPr>
        <p:spPr>
          <a:xfrm>
            <a:off x="4889500" y="2683967"/>
            <a:ext cx="3302000" cy="385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 V A   e n   c a s o   d e   r e q u e r i r   f a c t u r a</a:t>
            </a:r>
            <a:endParaRPr lang="en-US" sz="98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 s t o   d e   v i a t i c o s   n o   i n c l u i d o s</a:t>
            </a:r>
            <a:endParaRPr lang="en-US" sz="980" dirty="0"/>
          </a:p>
        </p:txBody>
      </p:sp>
      <p:sp>
        <p:nvSpPr>
          <p:cNvPr id="25" name="Text 13"/>
          <p:cNvSpPr/>
          <p:nvPr/>
        </p:nvSpPr>
        <p:spPr>
          <a:xfrm>
            <a:off x="5092700" y="3085973"/>
            <a:ext cx="2540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3 meses</a:t>
            </a:r>
            <a:endParaRPr lang="en-US" sz="950" dirty="0"/>
          </a:p>
        </p:txBody>
      </p:sp>
      <p:sp>
        <p:nvSpPr>
          <p:cNvPr id="26" name="Text 14"/>
          <p:cNvSpPr/>
          <p:nvPr/>
        </p:nvSpPr>
        <p:spPr>
          <a:xfrm>
            <a:off x="5092700" y="3385566"/>
            <a:ext cx="2540000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Automatización</a:t>
            </a:r>
            <a:endParaRPr lang="en-US" sz="900" dirty="0"/>
          </a:p>
        </p:txBody>
      </p:sp>
      <p:sp>
        <p:nvSpPr>
          <p:cNvPr id="27" name="Text 15"/>
          <p:cNvSpPr/>
          <p:nvPr/>
        </p:nvSpPr>
        <p:spPr>
          <a:xfrm>
            <a:off x="5092700" y="3656203"/>
            <a:ext cx="2540000" cy="187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Estrategia, pauta y tecnología</a:t>
            </a:r>
            <a:endParaRPr lang="en-US" sz="950" dirty="0"/>
          </a:p>
        </p:txBody>
      </p:sp>
      <p:sp>
        <p:nvSpPr>
          <p:cNvPr id="28" name="Text 16"/>
          <p:cNvSpPr/>
          <p:nvPr/>
        </p:nvSpPr>
        <p:spPr>
          <a:xfrm>
            <a:off x="1151890" y="4286250"/>
            <a:ext cx="7112000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100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 en pauta se paga directo a Meta </a:t>
            </a:r>
            <a:pPr algn="l" indent="0" marL="0">
              <a:lnSpc>
                <a:spcPts val="113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(sugerido: $2,000 –$5,000 MXN / mes)</a:t>
            </a:r>
            <a:pPr algn="l" indent="0" marL="0">
              <a:lnSpc>
                <a:spcPts val="1130"/>
              </a:lnSpc>
              <a:buNone/>
            </a:pPr>
            <a:r>
              <a:rPr lang="en-US" sz="100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 adicional a los honorarios. Precios</a:t>
            </a:r>
            <a:endParaRPr lang="en-US" sz="1000" dirty="0"/>
          </a:p>
          <a:p>
            <a:pPr algn="l" indent="0" marL="0">
              <a:lnSpc>
                <a:spcPts val="1130"/>
              </a:lnSpc>
              <a:buNone/>
            </a:pPr>
            <a:r>
              <a:rPr lang="en-US" sz="1000" dirty="0">
                <a:solidFill>
                  <a:srgbClr val="A9A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pesos mexicanos.</a:t>
            </a:r>
            <a:endParaRPr lang="en-US" sz="1000" dirty="0"/>
          </a:p>
        </p:txBody>
      </p:sp>
      <p:pic>
        <p:nvPicPr>
          <p:cNvPr id="29" name="Image 10" descr="img/x12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10201" y="1551432"/>
            <a:ext cx="2724150" cy="66675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483870" y="4881118"/>
            <a:ext cx="3810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    ×    E X T R A V A G A N C E</a:t>
            </a:r>
            <a:endParaRPr lang="en-US" sz="700" dirty="0"/>
          </a:p>
        </p:txBody>
      </p:sp>
      <p:sp>
        <p:nvSpPr>
          <p:cNvPr id="31" name="Text 18"/>
          <p:cNvSpPr/>
          <p:nvPr/>
        </p:nvSpPr>
        <p:spPr>
          <a:xfrm>
            <a:off x="8063230" y="4886198"/>
            <a:ext cx="762000" cy="137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- A C E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2026-08-10T18:55:52Z</dcterms:created>
  <dcterms:modified xsi:type="dcterms:W3CDTF">2026-08-10T18:55:52Z</dcterms:modified>
</cp:coreProperties>
</file>