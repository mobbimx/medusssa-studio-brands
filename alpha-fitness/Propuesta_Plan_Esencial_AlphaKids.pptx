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32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81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463040"/>
            <a:ext cx="3840480" cy="3840480"/>
          </a:xfrm>
          <a:prstGeom prst="ellipse">
            <a:avLst/>
          </a:prstGeom>
          <a:solidFill>
            <a:srgbClr val="009C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009C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 rot="2700000">
            <a:off x="658368" y="1051560"/>
            <a:ext cx="146304" cy="146304"/>
          </a:xfrm>
          <a:prstGeom prst="rect">
            <a:avLst/>
          </a:prstGeom>
          <a:solidFill>
            <a:srgbClr val="E538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Esencial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de marca y estrategia digital · Alpha Fitness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154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CC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Alpha Kids: danza aérea · calistenia · acondicionamiento físico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0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de propuesta · Confidencial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ENFOQUE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Alpha Kids: el corazón del gym.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familias no buscan un gym: buscan un lugar donde sus hijos crezcan seguros y felices.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eso construimos la marca de Alpha Fitness a través de Alpha Kids, con la coach como rostro humano que da confianza y personalidad a la marca.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0" y="1417320"/>
            <a:ext cx="2834640" cy="1234440"/>
          </a:xfrm>
          <a:prstGeom prst="roundRect">
            <a:avLst>
              <a:gd name="adj" fmla="val 8889"/>
            </a:avLst>
          </a:prstGeom>
          <a:solidFill>
            <a:srgbClr val="009CFF"/>
          </a:solidFill>
          <a:ln/>
          <a:effectLst>
            <a:outerShdw blurRad="114300" dist="38100" dir="5400000" algn="bl" rotWithShape="0">
              <a:srgbClr val="9AA3B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46520" y="148132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Alpha Kids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Posicionar las clases infantiles del gym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2679192"/>
            <a:ext cx="457200" cy="457200"/>
          </a:xfrm>
          <a:prstGeom prst="ellipse">
            <a:avLst/>
          </a:prstGeom>
          <a:solidFill>
            <a:srgbClr val="EAF4F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967728" y="2788920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0" y="3246120"/>
            <a:ext cx="2834640" cy="1234440"/>
          </a:xfrm>
          <a:prstGeom prst="roundRect">
            <a:avLst>
              <a:gd name="adj" fmla="val 8889"/>
            </a:avLst>
          </a:prstGeom>
          <a:solidFill>
            <a:srgbClr val="23263A"/>
          </a:solidFill>
          <a:ln/>
          <a:effectLst>
            <a:outerShdw blurRad="114300" dist="38100" dir="5400000" algn="bl" rotWithShape="0">
              <a:srgbClr val="9AA3B2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3383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446520" y="331012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Alpha Fitness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Crece con la comunidad que Alpha Kids construye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TUS 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Llenar los grupos de Alpha Kids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513332"/>
            <a:ext cx="3886200" cy="1783080"/>
          </a:xfrm>
          <a:prstGeom prst="roundRect">
            <a:avLst>
              <a:gd name="adj" fmla="val 5128"/>
            </a:avLst>
          </a:prstGeom>
          <a:solidFill>
            <a:srgbClr val="F2F7FC"/>
          </a:solidFill>
          <a:ln/>
          <a:effectLst>
            <a:outerShdw blurRad="114300" dist="38100" dir="5400000" algn="bl" rotWithShape="0">
              <a:srgbClr val="9AA3B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741932"/>
            <a:ext cx="603504" cy="603504"/>
          </a:xfrm>
          <a:prstGeom prst="ellipse">
            <a:avLst/>
          </a:prstGeom>
          <a:solidFill>
            <a:srgbClr val="009CFF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9280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7145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Danza aérea — la prioridad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409444"/>
            <a:ext cx="3374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Llenar el calendario de clases de niñas. La disciplina estrella y el corazón de Alpha Kids.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27448" y="1513332"/>
            <a:ext cx="3886200" cy="1783080"/>
          </a:xfrm>
          <a:prstGeom prst="roundRect">
            <a:avLst>
              <a:gd name="adj" fmla="val 5128"/>
            </a:avLst>
          </a:prstGeom>
          <a:solidFill>
            <a:srgbClr val="F2F7FC"/>
          </a:solidFill>
          <a:ln/>
          <a:effectLst>
            <a:outerShdw blurRad="114300" dist="38100" dir="5400000" algn="bl" rotWithShape="0">
              <a:srgbClr val="9AA3B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74336" y="1741932"/>
            <a:ext cx="603504" cy="603504"/>
          </a:xfrm>
          <a:prstGeom prst="ellipse">
            <a:avLst/>
          </a:prstGeom>
          <a:solidFill>
            <a:srgbClr val="23263A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212" y="1892808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87568" y="17145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Calistenia para niños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3480" y="2409444"/>
            <a:ext cx="3374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Fuerza con peso corporal y acondicionamiento físico: energía, disciplina y salud para los niños.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7863840" cy="1097280"/>
          </a:xfrm>
          <a:prstGeom prst="roundRect">
            <a:avLst>
              <a:gd name="adj" fmla="val 8333"/>
            </a:avLst>
          </a:prstGeom>
          <a:solidFill>
            <a:srgbClr val="23263A"/>
          </a:solidFill>
          <a:ln/>
          <a:effectLst>
            <a:outerShdw blurRad="114300" dist="38100" dir="5400000" algn="bl" rotWithShape="0">
              <a:srgbClr val="9AA3B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749040"/>
            <a:ext cx="640080" cy="640080"/>
          </a:xfrm>
          <a:prstGeom prst="ellipse">
            <a:avLst/>
          </a:prstGeom>
          <a:solidFill>
            <a:srgbClr val="009CFF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39090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bajo la marca del gym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28800" y="4069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CC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clase y cada contenido construye el nombre de Alpha Fitness como EL lugar de deporte infantil en Xalapa.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upo 80">
            <a:extLst>
              <a:ext uri="{FF2B5EF4-FFF2-40B4-BE49-F238E27FC236}">
                <a16:creationId xmlns:a16="http://schemas.microsoft.com/office/drawing/2014/main" id="{143290A8-A93A-478F-8AEA-A694E3D4E959}"/>
              </a:ext>
            </a:extLst>
          </p:cNvPr>
          <p:cNvGrpSpPr/>
          <p:nvPr/>
        </p:nvGrpSpPr>
        <p:grpSpPr>
          <a:xfrm>
            <a:off x="494665" y="603504"/>
            <a:ext cx="8154670" cy="3073146"/>
            <a:chOff x="640080" y="411480"/>
            <a:chExt cx="8229600" cy="3017520"/>
          </a:xfrm>
        </p:grpSpPr>
        <p:sp>
          <p:nvSpPr>
            <p:cNvPr id="55" name="Text 0">
              <a:extLst>
                <a:ext uri="{FF2B5EF4-FFF2-40B4-BE49-F238E27FC236}">
                  <a16:creationId xmlns:a16="http://schemas.microsoft.com/office/drawing/2014/main" id="{A09C810C-DA94-4242-8A9E-148353FD7AD1}"/>
                </a:ext>
              </a:extLst>
            </p:cNvPr>
            <p:cNvSpPr/>
            <p:nvPr/>
          </p:nvSpPr>
          <p:spPr>
            <a:xfrm>
              <a:off x="640080" y="411480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300" dirty="0">
                  <a:solidFill>
                    <a:srgbClr val="009C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EL ARRANQUE · PAGO ÚNICO</a:t>
              </a:r>
              <a:endParaRPr lang="en-US" sz="1100" dirty="0"/>
            </a:p>
          </p:txBody>
        </p:sp>
        <p:sp>
          <p:nvSpPr>
            <p:cNvPr id="56" name="Text 1">
              <a:extLst>
                <a:ext uri="{FF2B5EF4-FFF2-40B4-BE49-F238E27FC236}">
                  <a16:creationId xmlns:a16="http://schemas.microsoft.com/office/drawing/2014/main" id="{4F9E0F22-F070-4951-BF43-84362B65F307}"/>
                </a:ext>
              </a:extLst>
            </p:cNvPr>
            <p:cNvSpPr/>
            <p:nvPr/>
          </p:nvSpPr>
          <p:spPr>
            <a:xfrm>
              <a:off x="640080" y="68580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23263A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Qué incluye tu setup   </a:t>
              </a:r>
              <a:r>
                <a:rPr lang="en-US" sz="2600" b="1" dirty="0">
                  <a:solidFill>
                    <a:srgbClr val="009C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$800</a:t>
              </a:r>
              <a:endParaRPr lang="en-US" sz="2600" dirty="0"/>
            </a:p>
          </p:txBody>
        </p:sp>
        <p:sp>
          <p:nvSpPr>
            <p:cNvPr id="57" name="Shape 2">
              <a:extLst>
                <a:ext uri="{FF2B5EF4-FFF2-40B4-BE49-F238E27FC236}">
                  <a16:creationId xmlns:a16="http://schemas.microsoft.com/office/drawing/2014/main" id="{A6F97597-3786-44E1-9561-7C66785DC019}"/>
                </a:ext>
              </a:extLst>
            </p:cNvPr>
            <p:cNvSpPr/>
            <p:nvPr/>
          </p:nvSpPr>
          <p:spPr>
            <a:xfrm>
              <a:off x="640080" y="1417320"/>
              <a:ext cx="3886200" cy="621792"/>
            </a:xfrm>
            <a:prstGeom prst="roundRect">
              <a:avLst>
                <a:gd name="adj" fmla="val 11765"/>
              </a:avLst>
            </a:prstGeom>
            <a:solidFill>
              <a:srgbClr val="F2F7FC"/>
            </a:solidFill>
            <a:ln/>
          </p:spPr>
        </p:sp>
        <p:sp>
          <p:nvSpPr>
            <p:cNvPr id="58" name="Shape 3">
              <a:extLst>
                <a:ext uri="{FF2B5EF4-FFF2-40B4-BE49-F238E27FC236}">
                  <a16:creationId xmlns:a16="http://schemas.microsoft.com/office/drawing/2014/main" id="{BB5B9933-FA51-4F52-97F7-3E6872D75700}"/>
                </a:ext>
              </a:extLst>
            </p:cNvPr>
            <p:cNvSpPr/>
            <p:nvPr/>
          </p:nvSpPr>
          <p:spPr>
            <a:xfrm>
              <a:off x="813816" y="1517904"/>
              <a:ext cx="420624" cy="420624"/>
            </a:xfrm>
            <a:prstGeom prst="ellipse">
              <a:avLst/>
            </a:prstGeom>
            <a:solidFill>
              <a:srgbClr val="009CFF"/>
            </a:solidFill>
            <a:ln/>
            <a:effectLst>
              <a:outerShdw blurRad="114300" dist="38100" dir="5400000" algn="bl" rotWithShape="0">
                <a:srgbClr val="9AA3B2">
                  <a:alpha val="18000"/>
                </a:srgbClr>
              </a:outerShdw>
            </a:effectLst>
          </p:spPr>
        </p:sp>
        <p:pic>
          <p:nvPicPr>
            <p:cNvPr id="59" name="Image 0" descr="preencoded.png">
              <a:extLst>
                <a:ext uri="{FF2B5EF4-FFF2-40B4-BE49-F238E27FC236}">
                  <a16:creationId xmlns:a16="http://schemas.microsoft.com/office/drawing/2014/main" id="{0BB84A59-D6AB-437D-B063-E95D3FB71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8972" y="1623060"/>
              <a:ext cx="210312" cy="210312"/>
            </a:xfrm>
            <a:prstGeom prst="rect">
              <a:avLst/>
            </a:prstGeom>
          </p:spPr>
        </p:pic>
        <p:sp>
          <p:nvSpPr>
            <p:cNvPr id="60" name="Text 4">
              <a:extLst>
                <a:ext uri="{FF2B5EF4-FFF2-40B4-BE49-F238E27FC236}">
                  <a16:creationId xmlns:a16="http://schemas.microsoft.com/office/drawing/2014/main" id="{A261BCA9-68D8-4D97-B171-EB94393C1599}"/>
                </a:ext>
              </a:extLst>
            </p:cNvPr>
            <p:cNvSpPr/>
            <p:nvPr/>
          </p:nvSpPr>
          <p:spPr>
            <a:xfrm>
              <a:off x="1353312" y="1417320"/>
              <a:ext cx="30175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050" b="1" dirty="0" err="1">
                  <a:solidFill>
                    <a:srgbClr val="23263A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AlphaKIDS</a:t>
              </a:r>
              <a:r>
                <a:rPr lang="en-US" sz="1050" b="1" dirty="0">
                  <a:solidFill>
                    <a:srgbClr val="23263A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
</a:t>
              </a:r>
              <a:r>
                <a:rPr lang="en-US" sz="860" dirty="0" err="1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posicionamiento</a:t>
              </a:r>
              <a:r>
                <a:rPr lang="en-US" sz="860" dirty="0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de la </a:t>
              </a:r>
              <a:r>
                <a:rPr lang="en-US" sz="860" dirty="0" err="1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marca</a:t>
              </a:r>
              <a:r>
                <a:rPr lang="en-US" sz="860" dirty="0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</a:t>
              </a:r>
              <a:r>
                <a:rPr lang="en-US" sz="860" dirty="0" err="1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AlphaKIDS</a:t>
              </a:r>
              <a:r>
                <a:rPr lang="en-US" sz="860" dirty="0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</a:t>
              </a:r>
              <a:endParaRPr lang="en-US" sz="1050" dirty="0"/>
            </a:p>
          </p:txBody>
        </p:sp>
        <p:sp>
          <p:nvSpPr>
            <p:cNvPr id="65" name="Shape 8">
              <a:extLst>
                <a:ext uri="{FF2B5EF4-FFF2-40B4-BE49-F238E27FC236}">
                  <a16:creationId xmlns:a16="http://schemas.microsoft.com/office/drawing/2014/main" id="{F9A12550-F482-4FA1-B290-602AB20FE618}"/>
                </a:ext>
              </a:extLst>
            </p:cNvPr>
            <p:cNvSpPr/>
            <p:nvPr/>
          </p:nvSpPr>
          <p:spPr>
            <a:xfrm>
              <a:off x="640080" y="2112264"/>
              <a:ext cx="3886200" cy="621792"/>
            </a:xfrm>
            <a:prstGeom prst="roundRect">
              <a:avLst>
                <a:gd name="adj" fmla="val 11765"/>
              </a:avLst>
            </a:prstGeom>
            <a:solidFill>
              <a:srgbClr val="F2F7FC"/>
            </a:solidFill>
            <a:ln/>
          </p:spPr>
        </p:sp>
        <p:sp>
          <p:nvSpPr>
            <p:cNvPr id="66" name="Shape 9">
              <a:extLst>
                <a:ext uri="{FF2B5EF4-FFF2-40B4-BE49-F238E27FC236}">
                  <a16:creationId xmlns:a16="http://schemas.microsoft.com/office/drawing/2014/main" id="{C206BDDE-99AB-42DF-A2A9-4BC4BEC27328}"/>
                </a:ext>
              </a:extLst>
            </p:cNvPr>
            <p:cNvSpPr/>
            <p:nvPr/>
          </p:nvSpPr>
          <p:spPr>
            <a:xfrm>
              <a:off x="813816" y="2212848"/>
              <a:ext cx="420624" cy="420624"/>
            </a:xfrm>
            <a:prstGeom prst="ellipse">
              <a:avLst/>
            </a:prstGeom>
            <a:solidFill>
              <a:srgbClr val="009CFF"/>
            </a:solidFill>
            <a:ln/>
            <a:effectLst>
              <a:outerShdw blurRad="114300" dist="38100" dir="5400000" algn="bl" rotWithShape="0">
                <a:srgbClr val="9AA3B2">
                  <a:alpha val="18000"/>
                </a:srgbClr>
              </a:outerShdw>
            </a:effectLst>
          </p:spPr>
        </p:sp>
        <p:pic>
          <p:nvPicPr>
            <p:cNvPr id="67" name="Image 2" descr="preencoded.png">
              <a:extLst>
                <a:ext uri="{FF2B5EF4-FFF2-40B4-BE49-F238E27FC236}">
                  <a16:creationId xmlns:a16="http://schemas.microsoft.com/office/drawing/2014/main" id="{6218ABBE-110C-4272-B93B-B4E2A5D44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8972" y="2318004"/>
              <a:ext cx="210312" cy="210312"/>
            </a:xfrm>
            <a:prstGeom prst="rect">
              <a:avLst/>
            </a:prstGeom>
          </p:spPr>
        </p:pic>
        <p:sp>
          <p:nvSpPr>
            <p:cNvPr id="68" name="Text 10">
              <a:extLst>
                <a:ext uri="{FF2B5EF4-FFF2-40B4-BE49-F238E27FC236}">
                  <a16:creationId xmlns:a16="http://schemas.microsoft.com/office/drawing/2014/main" id="{26BBA162-D8CA-4E56-AB18-531EC82A4A62}"/>
                </a:ext>
              </a:extLst>
            </p:cNvPr>
            <p:cNvSpPr/>
            <p:nvPr/>
          </p:nvSpPr>
          <p:spPr>
            <a:xfrm>
              <a:off x="1353312" y="2112264"/>
              <a:ext cx="30175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050" b="1" dirty="0">
                  <a:solidFill>
                    <a:srgbClr val="23263A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Posicionamiento de las 3 clases
</a:t>
              </a:r>
              <a:r>
                <a:rPr lang="en-US" sz="860" dirty="0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Danza aérea, calistenia y acondicionamiento físico, cada una con su buyer persona.</a:t>
              </a:r>
              <a:endParaRPr lang="en-US" sz="1050" dirty="0"/>
            </a:p>
          </p:txBody>
        </p:sp>
        <p:sp>
          <p:nvSpPr>
            <p:cNvPr id="69" name="Shape 11">
              <a:extLst>
                <a:ext uri="{FF2B5EF4-FFF2-40B4-BE49-F238E27FC236}">
                  <a16:creationId xmlns:a16="http://schemas.microsoft.com/office/drawing/2014/main" id="{BDF3F3ED-1F91-4765-A3AB-09A50A2BB6D5}"/>
                </a:ext>
              </a:extLst>
            </p:cNvPr>
            <p:cNvSpPr/>
            <p:nvPr/>
          </p:nvSpPr>
          <p:spPr>
            <a:xfrm>
              <a:off x="4983480" y="2112264"/>
              <a:ext cx="3886200" cy="621792"/>
            </a:xfrm>
            <a:prstGeom prst="roundRect">
              <a:avLst>
                <a:gd name="adj" fmla="val 11765"/>
              </a:avLst>
            </a:prstGeom>
            <a:solidFill>
              <a:srgbClr val="F2F7FC"/>
            </a:solidFill>
            <a:ln/>
          </p:spPr>
        </p:sp>
        <p:sp>
          <p:nvSpPr>
            <p:cNvPr id="70" name="Shape 12">
              <a:extLst>
                <a:ext uri="{FF2B5EF4-FFF2-40B4-BE49-F238E27FC236}">
                  <a16:creationId xmlns:a16="http://schemas.microsoft.com/office/drawing/2014/main" id="{0612D682-9500-4205-A6EA-209A4069E33D}"/>
                </a:ext>
              </a:extLst>
            </p:cNvPr>
            <p:cNvSpPr/>
            <p:nvPr/>
          </p:nvSpPr>
          <p:spPr>
            <a:xfrm>
              <a:off x="5157216" y="2212848"/>
              <a:ext cx="420624" cy="420624"/>
            </a:xfrm>
            <a:prstGeom prst="ellipse">
              <a:avLst/>
            </a:prstGeom>
            <a:solidFill>
              <a:srgbClr val="23263A"/>
            </a:solidFill>
            <a:ln/>
            <a:effectLst>
              <a:outerShdw blurRad="114300" dist="38100" dir="5400000" algn="bl" rotWithShape="0">
                <a:srgbClr val="9AA3B2">
                  <a:alpha val="18000"/>
                </a:srgbClr>
              </a:outerShdw>
            </a:effectLst>
          </p:spPr>
        </p:sp>
        <p:pic>
          <p:nvPicPr>
            <p:cNvPr id="71" name="Image 3" descr="preencoded.png">
              <a:extLst>
                <a:ext uri="{FF2B5EF4-FFF2-40B4-BE49-F238E27FC236}">
                  <a16:creationId xmlns:a16="http://schemas.microsoft.com/office/drawing/2014/main" id="{A25A3D40-CECF-4E57-AB3B-F959B9CF3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62372" y="2318004"/>
              <a:ext cx="210312" cy="210312"/>
            </a:xfrm>
            <a:prstGeom prst="rect">
              <a:avLst/>
            </a:prstGeom>
          </p:spPr>
        </p:pic>
        <p:sp>
          <p:nvSpPr>
            <p:cNvPr id="72" name="Text 13">
              <a:extLst>
                <a:ext uri="{FF2B5EF4-FFF2-40B4-BE49-F238E27FC236}">
                  <a16:creationId xmlns:a16="http://schemas.microsoft.com/office/drawing/2014/main" id="{0BA638EC-1DB2-4CB9-AE78-57921EEBF63C}"/>
                </a:ext>
              </a:extLst>
            </p:cNvPr>
            <p:cNvSpPr/>
            <p:nvPr/>
          </p:nvSpPr>
          <p:spPr>
            <a:xfrm>
              <a:off x="5696712" y="2112264"/>
              <a:ext cx="30175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050" b="1" dirty="0">
                  <a:solidFill>
                    <a:srgbClr val="23263A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WhatsApp Business profesional
</a:t>
              </a:r>
              <a:r>
                <a:rPr lang="en-US" sz="860" dirty="0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Perfil del gym, catálogo de las 3 clases, bienvenida y respuestas rápidas.</a:t>
              </a:r>
              <a:endParaRPr lang="en-US" sz="1050" dirty="0"/>
            </a:p>
          </p:txBody>
        </p:sp>
        <p:sp>
          <p:nvSpPr>
            <p:cNvPr id="73" name="Shape 14">
              <a:extLst>
                <a:ext uri="{FF2B5EF4-FFF2-40B4-BE49-F238E27FC236}">
                  <a16:creationId xmlns:a16="http://schemas.microsoft.com/office/drawing/2014/main" id="{95FD5698-185F-4E16-8481-06EE6CD35356}"/>
                </a:ext>
              </a:extLst>
            </p:cNvPr>
            <p:cNvSpPr/>
            <p:nvPr/>
          </p:nvSpPr>
          <p:spPr>
            <a:xfrm>
              <a:off x="640080" y="2807208"/>
              <a:ext cx="3886200" cy="621792"/>
            </a:xfrm>
            <a:prstGeom prst="roundRect">
              <a:avLst>
                <a:gd name="adj" fmla="val 11765"/>
              </a:avLst>
            </a:prstGeom>
            <a:solidFill>
              <a:srgbClr val="F2F7FC"/>
            </a:solidFill>
            <a:ln/>
          </p:spPr>
        </p:sp>
        <p:sp>
          <p:nvSpPr>
            <p:cNvPr id="74" name="Shape 15">
              <a:extLst>
                <a:ext uri="{FF2B5EF4-FFF2-40B4-BE49-F238E27FC236}">
                  <a16:creationId xmlns:a16="http://schemas.microsoft.com/office/drawing/2014/main" id="{5FF7052A-9112-4CF1-9035-4A86B349B3AC}"/>
                </a:ext>
              </a:extLst>
            </p:cNvPr>
            <p:cNvSpPr/>
            <p:nvPr/>
          </p:nvSpPr>
          <p:spPr>
            <a:xfrm>
              <a:off x="813816" y="2907792"/>
              <a:ext cx="420624" cy="420624"/>
            </a:xfrm>
            <a:prstGeom prst="ellipse">
              <a:avLst/>
            </a:prstGeom>
            <a:solidFill>
              <a:srgbClr val="009CFF"/>
            </a:solidFill>
            <a:ln/>
            <a:effectLst>
              <a:outerShdw blurRad="114300" dist="38100" dir="5400000" algn="bl" rotWithShape="0">
                <a:srgbClr val="9AA3B2">
                  <a:alpha val="18000"/>
                </a:srgbClr>
              </a:outerShdw>
            </a:effectLst>
          </p:spPr>
        </p:sp>
        <p:pic>
          <p:nvPicPr>
            <p:cNvPr id="75" name="Image 4" descr="preencoded.png">
              <a:extLst>
                <a:ext uri="{FF2B5EF4-FFF2-40B4-BE49-F238E27FC236}">
                  <a16:creationId xmlns:a16="http://schemas.microsoft.com/office/drawing/2014/main" id="{B30BEABE-8DE9-491D-9CC9-8E09A50E2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8972" y="3012948"/>
              <a:ext cx="210312" cy="210312"/>
            </a:xfrm>
            <a:prstGeom prst="rect">
              <a:avLst/>
            </a:prstGeom>
          </p:spPr>
        </p:pic>
        <p:sp>
          <p:nvSpPr>
            <p:cNvPr id="76" name="Text 16">
              <a:extLst>
                <a:ext uri="{FF2B5EF4-FFF2-40B4-BE49-F238E27FC236}">
                  <a16:creationId xmlns:a16="http://schemas.microsoft.com/office/drawing/2014/main" id="{CC91F06C-9D7C-4DE6-9B3E-D3C1057F109B}"/>
                </a:ext>
              </a:extLst>
            </p:cNvPr>
            <p:cNvSpPr/>
            <p:nvPr/>
          </p:nvSpPr>
          <p:spPr>
            <a:xfrm>
              <a:off x="1353312" y="2807208"/>
              <a:ext cx="30175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050" b="1" dirty="0">
                  <a:solidFill>
                    <a:srgbClr val="23263A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Optimización de IG + TikTok
</a:t>
              </a:r>
              <a:r>
                <a:rPr lang="en-US" sz="860" dirty="0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Bio, foto, enlaces y highlights del gym enfocados en Alpha Kids.</a:t>
              </a:r>
              <a:endParaRPr lang="en-US" sz="1050" dirty="0"/>
            </a:p>
          </p:txBody>
        </p:sp>
        <p:sp>
          <p:nvSpPr>
            <p:cNvPr id="77" name="Shape 17">
              <a:extLst>
                <a:ext uri="{FF2B5EF4-FFF2-40B4-BE49-F238E27FC236}">
                  <a16:creationId xmlns:a16="http://schemas.microsoft.com/office/drawing/2014/main" id="{2714C97D-31AB-4B63-974A-265D31DC89E8}"/>
                </a:ext>
              </a:extLst>
            </p:cNvPr>
            <p:cNvSpPr/>
            <p:nvPr/>
          </p:nvSpPr>
          <p:spPr>
            <a:xfrm>
              <a:off x="4983480" y="2807208"/>
              <a:ext cx="3886200" cy="621792"/>
            </a:xfrm>
            <a:prstGeom prst="roundRect">
              <a:avLst>
                <a:gd name="adj" fmla="val 11765"/>
              </a:avLst>
            </a:prstGeom>
            <a:solidFill>
              <a:srgbClr val="F2F7FC"/>
            </a:solidFill>
            <a:ln/>
          </p:spPr>
        </p:sp>
        <p:sp>
          <p:nvSpPr>
            <p:cNvPr id="78" name="Shape 18">
              <a:extLst>
                <a:ext uri="{FF2B5EF4-FFF2-40B4-BE49-F238E27FC236}">
                  <a16:creationId xmlns:a16="http://schemas.microsoft.com/office/drawing/2014/main" id="{8B6F2BF9-E204-4EDF-B799-827FF6376973}"/>
                </a:ext>
              </a:extLst>
            </p:cNvPr>
            <p:cNvSpPr/>
            <p:nvPr/>
          </p:nvSpPr>
          <p:spPr>
            <a:xfrm>
              <a:off x="5157216" y="2907792"/>
              <a:ext cx="420624" cy="420624"/>
            </a:xfrm>
            <a:prstGeom prst="ellipse">
              <a:avLst/>
            </a:prstGeom>
            <a:solidFill>
              <a:srgbClr val="23263A"/>
            </a:solidFill>
            <a:ln/>
            <a:effectLst>
              <a:outerShdw blurRad="114300" dist="38100" dir="5400000" algn="bl" rotWithShape="0">
                <a:srgbClr val="9AA3B2">
                  <a:alpha val="18000"/>
                </a:srgbClr>
              </a:outerShdw>
            </a:effectLst>
          </p:spPr>
        </p:sp>
        <p:pic>
          <p:nvPicPr>
            <p:cNvPr id="79" name="Image 5" descr="preencoded.png">
              <a:extLst>
                <a:ext uri="{FF2B5EF4-FFF2-40B4-BE49-F238E27FC236}">
                  <a16:creationId xmlns:a16="http://schemas.microsoft.com/office/drawing/2014/main" id="{A16B2F79-B505-4297-9E8A-8A95B7BC9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62372" y="3012948"/>
              <a:ext cx="210312" cy="210312"/>
            </a:xfrm>
            <a:prstGeom prst="rect">
              <a:avLst/>
            </a:prstGeom>
          </p:spPr>
        </p:pic>
        <p:sp>
          <p:nvSpPr>
            <p:cNvPr id="80" name="Text 19">
              <a:extLst>
                <a:ext uri="{FF2B5EF4-FFF2-40B4-BE49-F238E27FC236}">
                  <a16:creationId xmlns:a16="http://schemas.microsoft.com/office/drawing/2014/main" id="{7CCC0BB7-420C-4B23-955A-50458D94B4C1}"/>
                </a:ext>
              </a:extLst>
            </p:cNvPr>
            <p:cNvSpPr/>
            <p:nvPr/>
          </p:nvSpPr>
          <p:spPr>
            <a:xfrm>
              <a:off x="5696712" y="2807208"/>
              <a:ext cx="30175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050" b="1" dirty="0">
                  <a:solidFill>
                    <a:srgbClr val="23263A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Plan de contenido del 1er mes
</a:t>
              </a:r>
              <a:r>
                <a:rPr lang="en-US" sz="860" dirty="0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Pilares + mini-guía de grabación para las clases de Alpha Kids.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>
            <a:extLst>
              <a:ext uri="{FF2B5EF4-FFF2-40B4-BE49-F238E27FC236}">
                <a16:creationId xmlns:a16="http://schemas.microsoft.com/office/drawing/2014/main" id="{92F070DD-22C3-4583-8BB1-75FD2DF1E105}"/>
              </a:ext>
            </a:extLst>
          </p:cNvPr>
          <p:cNvSpPr/>
          <p:nvPr/>
        </p:nvSpPr>
        <p:spPr>
          <a:xfrm>
            <a:off x="371226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MES</a:t>
            </a:r>
            <a:endParaRPr lang="en-US" sz="11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364C53AC-01E2-4E99-95F5-36DB3B73BCD4}"/>
              </a:ext>
            </a:extLst>
          </p:cNvPr>
          <p:cNvSpPr/>
          <p:nvPr/>
        </p:nvSpPr>
        <p:spPr>
          <a:xfrm>
            <a:off x="371226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Entregables mensuales</a:t>
            </a:r>
            <a:endParaRPr lang="en-US" sz="27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CE0F835E-935F-4935-B192-9F8401B0E1FD}"/>
              </a:ext>
            </a:extLst>
          </p:cNvPr>
          <p:cNvSpPr/>
          <p:nvPr/>
        </p:nvSpPr>
        <p:spPr>
          <a:xfrm>
            <a:off x="371226" y="1371600"/>
            <a:ext cx="3886200" cy="96012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/>
          <a:effectLst>
            <a:outerShdw blurRad="114300" dist="38100" dir="5400000" algn="bl" rotWithShape="0">
              <a:srgbClr val="9AA3B2">
                <a:alpha val="8000"/>
              </a:srgbClr>
            </a:outerShdw>
          </a:effectLst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6033FF53-8E4A-49DC-8AD4-8F753655A675}"/>
              </a:ext>
            </a:extLst>
          </p:cNvPr>
          <p:cNvSpPr/>
          <p:nvPr/>
        </p:nvSpPr>
        <p:spPr>
          <a:xfrm>
            <a:off x="572394" y="1613916"/>
            <a:ext cx="475488" cy="475488"/>
          </a:xfrm>
          <a:prstGeom prst="ellipse">
            <a:avLst/>
          </a:prstGeom>
          <a:solidFill>
            <a:srgbClr val="009CFF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B374EA7B-D9B1-446F-91C3-8F23C6A29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66" y="1732788"/>
            <a:ext cx="237744" cy="237744"/>
          </a:xfrm>
          <a:prstGeom prst="rect">
            <a:avLst/>
          </a:prstGeom>
        </p:spPr>
      </p:pic>
      <p:sp>
        <p:nvSpPr>
          <p:cNvPr id="31" name="Text 4">
            <a:extLst>
              <a:ext uri="{FF2B5EF4-FFF2-40B4-BE49-F238E27FC236}">
                <a16:creationId xmlns:a16="http://schemas.microsoft.com/office/drawing/2014/main" id="{4472E1FF-B19C-4E86-B537-8BD8761E4657}"/>
              </a:ext>
            </a:extLst>
          </p:cNvPr>
          <p:cNvSpPr/>
          <p:nvPr/>
        </p:nvSpPr>
        <p:spPr>
          <a:xfrm>
            <a:off x="1157610" y="1490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videos cortos al mes</a:t>
            </a:r>
            <a:endParaRPr lang="en-US" sz="12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836BBF16-2A09-4C7D-A9CD-2C0BD04C340E}"/>
              </a:ext>
            </a:extLst>
          </p:cNvPr>
          <p:cNvSpPr/>
          <p:nvPr/>
        </p:nvSpPr>
        <p:spPr>
          <a:xfrm>
            <a:off x="1157610" y="184708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Editados y publicados en Instagram Reels y TikTok.</a:t>
            </a:r>
            <a:endParaRPr lang="en-US" sz="900" dirty="0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B3809172-D3A6-4D9C-A779-30BA084CE738}"/>
              </a:ext>
            </a:extLst>
          </p:cNvPr>
          <p:cNvGrpSpPr/>
          <p:nvPr/>
        </p:nvGrpSpPr>
        <p:grpSpPr>
          <a:xfrm>
            <a:off x="4714626" y="1371600"/>
            <a:ext cx="3886200" cy="960120"/>
            <a:chOff x="4983480" y="1371600"/>
            <a:chExt cx="3886200" cy="960120"/>
          </a:xfrm>
        </p:grpSpPr>
        <p:sp>
          <p:nvSpPr>
            <p:cNvPr id="54" name="Shape 6">
              <a:extLst>
                <a:ext uri="{FF2B5EF4-FFF2-40B4-BE49-F238E27FC236}">
                  <a16:creationId xmlns:a16="http://schemas.microsoft.com/office/drawing/2014/main" id="{7C81469D-58D3-4F55-997A-1FC0A129D41B}"/>
                </a:ext>
              </a:extLst>
            </p:cNvPr>
            <p:cNvSpPr/>
            <p:nvPr/>
          </p:nvSpPr>
          <p:spPr>
            <a:xfrm>
              <a:off x="4983480" y="1371600"/>
              <a:ext cx="3886200" cy="960120"/>
            </a:xfrm>
            <a:prstGeom prst="roundRect">
              <a:avLst>
                <a:gd name="adj" fmla="val 8571"/>
              </a:avLst>
            </a:prstGeom>
            <a:solidFill>
              <a:srgbClr val="F2F7FC"/>
            </a:solidFill>
            <a:ln/>
            <a:effectLst>
              <a:outerShdw blurRad="114300" dist="38100" dir="5400000" algn="bl" rotWithShape="0">
                <a:srgbClr val="9AA3B2">
                  <a:alpha val="8000"/>
                </a:srgbClr>
              </a:outerShdw>
            </a:effectLst>
          </p:spPr>
        </p:sp>
        <p:sp>
          <p:nvSpPr>
            <p:cNvPr id="55" name="Shape 7">
              <a:extLst>
                <a:ext uri="{FF2B5EF4-FFF2-40B4-BE49-F238E27FC236}">
                  <a16:creationId xmlns:a16="http://schemas.microsoft.com/office/drawing/2014/main" id="{C71EAC6E-74CF-49F1-86D3-3D6BCF6E6841}"/>
                </a:ext>
              </a:extLst>
            </p:cNvPr>
            <p:cNvSpPr/>
            <p:nvPr/>
          </p:nvSpPr>
          <p:spPr>
            <a:xfrm>
              <a:off x="5184648" y="1613916"/>
              <a:ext cx="475488" cy="475488"/>
            </a:xfrm>
            <a:prstGeom prst="ellipse">
              <a:avLst/>
            </a:prstGeom>
            <a:solidFill>
              <a:srgbClr val="23263A"/>
            </a:solidFill>
            <a:ln/>
            <a:effectLst>
              <a:outerShdw blurRad="114300" dist="38100" dir="5400000" algn="bl" rotWithShape="0">
                <a:srgbClr val="9AA3B2">
                  <a:alpha val="18000"/>
                </a:srgbClr>
              </a:outerShdw>
            </a:effectLst>
          </p:spPr>
        </p:sp>
        <p:pic>
          <p:nvPicPr>
            <p:cNvPr id="56" name="Image 1" descr="preencoded.png">
              <a:extLst>
                <a:ext uri="{FF2B5EF4-FFF2-40B4-BE49-F238E27FC236}">
                  <a16:creationId xmlns:a16="http://schemas.microsoft.com/office/drawing/2014/main" id="{C394C937-1584-4FDC-9E6A-CAAF22273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03520" y="1732788"/>
              <a:ext cx="237744" cy="237744"/>
            </a:xfrm>
            <a:prstGeom prst="rect">
              <a:avLst/>
            </a:prstGeom>
          </p:spPr>
        </p:pic>
        <p:sp>
          <p:nvSpPr>
            <p:cNvPr id="57" name="Text 8">
              <a:extLst>
                <a:ext uri="{FF2B5EF4-FFF2-40B4-BE49-F238E27FC236}">
                  <a16:creationId xmlns:a16="http://schemas.microsoft.com/office/drawing/2014/main" id="{97983A64-E8DA-4D36-9D43-E3B9B12C5BD7}"/>
                </a:ext>
              </a:extLst>
            </p:cNvPr>
            <p:cNvSpPr/>
            <p:nvPr/>
          </p:nvSpPr>
          <p:spPr>
            <a:xfrm>
              <a:off x="5769864" y="1490472"/>
              <a:ext cx="2971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3263A"/>
                  </a:solidFill>
                  <a:latin typeface="Poppins" pitchFamily="34" charset="0"/>
                  <a:ea typeface="Poppins"/>
                  <a:cs typeface="Poppins" pitchFamily="34" charset="-120"/>
                </a:rPr>
                <a:t>1 </a:t>
              </a:r>
              <a:r>
                <a:rPr lang="en-US" sz="1200" b="1" dirty="0" err="1">
                  <a:solidFill>
                    <a:srgbClr val="23263A"/>
                  </a:solidFill>
                  <a:latin typeface="Poppins" pitchFamily="34" charset="0"/>
                  <a:ea typeface="Poppins"/>
                  <a:cs typeface="Poppins" pitchFamily="34" charset="-120"/>
                </a:rPr>
                <a:t>carrusel</a:t>
              </a:r>
              <a:r>
                <a:rPr lang="en-US" sz="1200" b="1" dirty="0">
                  <a:solidFill>
                    <a:srgbClr val="23263A"/>
                  </a:solidFill>
                  <a:latin typeface="Poppins" pitchFamily="34" charset="0"/>
                  <a:ea typeface="Poppins"/>
                  <a:cs typeface="Poppins" pitchFamily="34" charset="-120"/>
                </a:rPr>
                <a:t> o post</a:t>
              </a:r>
              <a:endParaRPr lang="en-US" sz="1200" dirty="0">
                <a:ea typeface="Poppins"/>
              </a:endParaRPr>
            </a:p>
          </p:txBody>
        </p:sp>
        <p:sp>
          <p:nvSpPr>
            <p:cNvPr id="58" name="Text 9">
              <a:extLst>
                <a:ext uri="{FF2B5EF4-FFF2-40B4-BE49-F238E27FC236}">
                  <a16:creationId xmlns:a16="http://schemas.microsoft.com/office/drawing/2014/main" id="{AC428EEE-F246-4A01-BD6B-893BA388954F}"/>
                </a:ext>
              </a:extLst>
            </p:cNvPr>
            <p:cNvSpPr/>
            <p:nvPr/>
          </p:nvSpPr>
          <p:spPr>
            <a:xfrm>
              <a:off x="5769864" y="1847088"/>
              <a:ext cx="29718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900" dirty="0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Educativo, testimonios, horarios o promociones.</a:t>
              </a:r>
              <a:endParaRPr lang="en-US" sz="900" dirty="0"/>
            </a:p>
          </p:txBody>
        </p:sp>
      </p:grpSp>
      <p:sp>
        <p:nvSpPr>
          <p:cNvPr id="49" name="Shape 22">
            <a:extLst>
              <a:ext uri="{FF2B5EF4-FFF2-40B4-BE49-F238E27FC236}">
                <a16:creationId xmlns:a16="http://schemas.microsoft.com/office/drawing/2014/main" id="{3F7D349F-E0D7-44FC-858D-93FF13975727}"/>
              </a:ext>
            </a:extLst>
          </p:cNvPr>
          <p:cNvSpPr/>
          <p:nvPr/>
        </p:nvSpPr>
        <p:spPr>
          <a:xfrm>
            <a:off x="4685162" y="2571750"/>
            <a:ext cx="3915664" cy="96012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/>
          <a:effectLst>
            <a:outerShdw blurRad="114300" dist="38100" dir="5400000" algn="bl" rotWithShape="0">
              <a:srgbClr val="9AA3B2">
                <a:alpha val="8000"/>
              </a:srgbClr>
            </a:outerShdw>
          </a:effectLst>
        </p:spPr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1BD51CC-AF3D-44B2-B460-2A0F8EE2E7D2}"/>
              </a:ext>
            </a:extLst>
          </p:cNvPr>
          <p:cNvGrpSpPr/>
          <p:nvPr/>
        </p:nvGrpSpPr>
        <p:grpSpPr>
          <a:xfrm>
            <a:off x="2518918" y="3703320"/>
            <a:ext cx="3915664" cy="960120"/>
            <a:chOff x="466476" y="2846070"/>
            <a:chExt cx="3915664" cy="960120"/>
          </a:xfrm>
        </p:grpSpPr>
        <p:sp>
          <p:nvSpPr>
            <p:cNvPr id="44" name="Shape 18">
              <a:extLst>
                <a:ext uri="{FF2B5EF4-FFF2-40B4-BE49-F238E27FC236}">
                  <a16:creationId xmlns:a16="http://schemas.microsoft.com/office/drawing/2014/main" id="{705E0A0B-9FF8-4D65-8313-C9007212AE59}"/>
                </a:ext>
              </a:extLst>
            </p:cNvPr>
            <p:cNvSpPr/>
            <p:nvPr/>
          </p:nvSpPr>
          <p:spPr>
            <a:xfrm>
              <a:off x="466476" y="2846070"/>
              <a:ext cx="3915664" cy="960120"/>
            </a:xfrm>
            <a:prstGeom prst="roundRect">
              <a:avLst>
                <a:gd name="adj" fmla="val 8571"/>
              </a:avLst>
            </a:prstGeom>
            <a:solidFill>
              <a:srgbClr val="F2F7FC"/>
            </a:solidFill>
            <a:ln/>
            <a:effectLst>
              <a:outerShdw blurRad="114300" dist="38100" dir="5400000" algn="bl" rotWithShape="0">
                <a:srgbClr val="9AA3B2">
                  <a:alpha val="8000"/>
                </a:srgbClr>
              </a:outerShdw>
            </a:effectLst>
          </p:spPr>
        </p:sp>
        <p:sp>
          <p:nvSpPr>
            <p:cNvPr id="48" name="Text 21">
              <a:extLst>
                <a:ext uri="{FF2B5EF4-FFF2-40B4-BE49-F238E27FC236}">
                  <a16:creationId xmlns:a16="http://schemas.microsoft.com/office/drawing/2014/main" id="{0E29F9AC-C715-4649-8D37-FE651EDB9B63}"/>
                </a:ext>
              </a:extLst>
            </p:cNvPr>
            <p:cNvSpPr/>
            <p:nvPr/>
          </p:nvSpPr>
          <p:spPr>
            <a:xfrm>
              <a:off x="1252859" y="3321558"/>
              <a:ext cx="2994331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900" dirty="0">
                  <a:solidFill>
                    <a:srgbClr val="6B7080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Las 3 clases de Alpha Kids, optimizadas.</a:t>
              </a:r>
              <a:endParaRPr lang="en-US" sz="900" dirty="0"/>
            </a:p>
          </p:txBody>
        </p:sp>
        <p:sp>
          <p:nvSpPr>
            <p:cNvPr id="45" name="Shape 19">
              <a:extLst>
                <a:ext uri="{FF2B5EF4-FFF2-40B4-BE49-F238E27FC236}">
                  <a16:creationId xmlns:a16="http://schemas.microsoft.com/office/drawing/2014/main" id="{7877A76B-AAB4-4FA1-BE5D-B808DFF0BF71}"/>
                </a:ext>
              </a:extLst>
            </p:cNvPr>
            <p:cNvSpPr/>
            <p:nvPr/>
          </p:nvSpPr>
          <p:spPr>
            <a:xfrm>
              <a:off x="667643" y="3088386"/>
              <a:ext cx="479093" cy="475488"/>
            </a:xfrm>
            <a:prstGeom prst="ellipse">
              <a:avLst/>
            </a:prstGeom>
            <a:solidFill>
              <a:srgbClr val="009CFF"/>
            </a:solidFill>
            <a:ln/>
            <a:effectLst>
              <a:outerShdw blurRad="114300" dist="38100" dir="5400000" algn="bl" rotWithShape="0">
                <a:srgbClr val="9AA3B2">
                  <a:alpha val="18000"/>
                </a:srgbClr>
              </a:outerShdw>
            </a:effectLst>
          </p:spPr>
        </p:sp>
        <p:pic>
          <p:nvPicPr>
            <p:cNvPr id="46" name="Image 4" descr="preencoded.png">
              <a:extLst>
                <a:ext uri="{FF2B5EF4-FFF2-40B4-BE49-F238E27FC236}">
                  <a16:creationId xmlns:a16="http://schemas.microsoft.com/office/drawing/2014/main" id="{290CEE8B-3B88-4BA5-B425-FA7A468B5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416" y="3207258"/>
              <a:ext cx="239547" cy="237744"/>
            </a:xfrm>
            <a:prstGeom prst="rect">
              <a:avLst/>
            </a:prstGeom>
          </p:spPr>
        </p:pic>
      </p:grpSp>
      <p:sp>
        <p:nvSpPr>
          <p:cNvPr id="50" name="Shape 23">
            <a:extLst>
              <a:ext uri="{FF2B5EF4-FFF2-40B4-BE49-F238E27FC236}">
                <a16:creationId xmlns:a16="http://schemas.microsoft.com/office/drawing/2014/main" id="{FF4129B7-1677-4E01-B2B1-E78371247589}"/>
              </a:ext>
            </a:extLst>
          </p:cNvPr>
          <p:cNvSpPr/>
          <p:nvPr/>
        </p:nvSpPr>
        <p:spPr>
          <a:xfrm>
            <a:off x="4948724" y="2814066"/>
            <a:ext cx="479093" cy="475488"/>
          </a:xfrm>
          <a:prstGeom prst="ellipse">
            <a:avLst/>
          </a:prstGeom>
          <a:solidFill>
            <a:srgbClr val="23263A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51" name="Image 5" descr="preencoded.png">
            <a:extLst>
              <a:ext uri="{FF2B5EF4-FFF2-40B4-BE49-F238E27FC236}">
                <a16:creationId xmlns:a16="http://schemas.microsoft.com/office/drawing/2014/main" id="{FE0171C5-96EA-411B-A097-A5AA0AC676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8497" y="2932938"/>
            <a:ext cx="239547" cy="237744"/>
          </a:xfrm>
          <a:prstGeom prst="rect">
            <a:avLst/>
          </a:prstGeom>
        </p:spPr>
      </p:pic>
      <p:sp>
        <p:nvSpPr>
          <p:cNvPr id="53" name="Text 25">
            <a:extLst>
              <a:ext uri="{FF2B5EF4-FFF2-40B4-BE49-F238E27FC236}">
                <a16:creationId xmlns:a16="http://schemas.microsoft.com/office/drawing/2014/main" id="{5CA94F3A-D4D6-4B2A-A0EF-2F6486D20032}"/>
              </a:ext>
            </a:extLst>
          </p:cNvPr>
          <p:cNvSpPr/>
          <p:nvPr/>
        </p:nvSpPr>
        <p:spPr>
          <a:xfrm>
            <a:off x="5575283" y="3120898"/>
            <a:ext cx="2994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de publicación y </a:t>
            </a:r>
            <a:r>
              <a:rPr lang="en-US" sz="900" dirty="0" err="1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</a:t>
            </a:r>
            <a:r>
              <a:rPr lang="en-US" sz="9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</a:t>
            </a:r>
            <a:r>
              <a:rPr lang="en-US" sz="900" dirty="0" err="1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</a:t>
            </a:r>
            <a:r>
              <a:rPr lang="en-US" sz="9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00" dirty="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06CA2F8F-6FCC-4231-8478-2F729E3C709B}"/>
              </a:ext>
            </a:extLst>
          </p:cNvPr>
          <p:cNvSpPr/>
          <p:nvPr/>
        </p:nvSpPr>
        <p:spPr>
          <a:xfrm>
            <a:off x="391039" y="2571750"/>
            <a:ext cx="3886200" cy="96012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/>
          <a:effectLst>
            <a:outerShdw blurRad="114300" dist="38100" dir="5400000" algn="bl" rotWithShape="0">
              <a:srgbClr val="9AA3B2">
                <a:alpha val="8000"/>
              </a:srgbClr>
            </a:outerShdw>
          </a:effectLst>
        </p:spPr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6BFFBA47-C16F-4F35-AADA-7323D2C73348}"/>
              </a:ext>
            </a:extLst>
          </p:cNvPr>
          <p:cNvSpPr/>
          <p:nvPr/>
        </p:nvSpPr>
        <p:spPr>
          <a:xfrm>
            <a:off x="574386" y="2819400"/>
            <a:ext cx="475488" cy="475488"/>
          </a:xfrm>
          <a:prstGeom prst="ellipse">
            <a:avLst/>
          </a:prstGeom>
          <a:solidFill>
            <a:srgbClr val="009CFF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60" name="Image 2" descr="preencoded.png">
            <a:extLst>
              <a:ext uri="{FF2B5EF4-FFF2-40B4-BE49-F238E27FC236}">
                <a16:creationId xmlns:a16="http://schemas.microsoft.com/office/drawing/2014/main" id="{D8E0AAD3-2405-4AE7-A652-9098D8B54D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58" y="2938272"/>
            <a:ext cx="237744" cy="237744"/>
          </a:xfrm>
          <a:prstGeom prst="rect">
            <a:avLst/>
          </a:prstGeom>
        </p:spPr>
      </p:pic>
      <p:sp>
        <p:nvSpPr>
          <p:cNvPr id="62" name="Text 13">
            <a:extLst>
              <a:ext uri="{FF2B5EF4-FFF2-40B4-BE49-F238E27FC236}">
                <a16:creationId xmlns:a16="http://schemas.microsoft.com/office/drawing/2014/main" id="{C40FAC33-04FB-4D66-9442-391135FB5500}"/>
              </a:ext>
            </a:extLst>
          </p:cNvPr>
          <p:cNvSpPr/>
          <p:nvPr/>
        </p:nvSpPr>
        <p:spPr>
          <a:xfrm>
            <a:off x="1177656" y="30805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1–2 por semana, listas para que las subas.</a:t>
            </a:r>
            <a:endParaRPr lang="en-US" sz="900" dirty="0"/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C82377A9-1EA4-4F25-A9C0-E7F72DBB7BB9}"/>
              </a:ext>
            </a:extLst>
          </p:cNvPr>
          <p:cNvSpPr/>
          <p:nvPr/>
        </p:nvSpPr>
        <p:spPr>
          <a:xfrm>
            <a:off x="3305301" y="386156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Pauta</a:t>
            </a: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00" b="1" dirty="0" err="1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gestionada</a:t>
            </a: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(1 </a:t>
            </a:r>
            <a:r>
              <a:rPr lang="en-US" sz="1200" b="1" dirty="0" err="1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campaña</a:t>
            </a: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</a:t>
            </a:r>
            <a:endParaRPr lang="en-US" sz="1200" dirty="0"/>
          </a:p>
        </p:txBody>
      </p:sp>
      <p:sp>
        <p:nvSpPr>
          <p:cNvPr id="74" name="Text 12">
            <a:extLst>
              <a:ext uri="{FF2B5EF4-FFF2-40B4-BE49-F238E27FC236}">
                <a16:creationId xmlns:a16="http://schemas.microsoft.com/office/drawing/2014/main" id="{E039F8D2-0394-4476-9B08-3F2DABFDC812}"/>
              </a:ext>
            </a:extLst>
          </p:cNvPr>
          <p:cNvSpPr/>
          <p:nvPr/>
        </p:nvSpPr>
        <p:spPr>
          <a:xfrm>
            <a:off x="1157610" y="268147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Stories (plantillas)</a:t>
            </a:r>
            <a:endParaRPr lang="en-US" sz="1200" dirty="0"/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B21EFB73-BCD1-41FB-BD6B-898D4A24A07B}"/>
              </a:ext>
            </a:extLst>
          </p:cNvPr>
          <p:cNvSpPr/>
          <p:nvPr/>
        </p:nvSpPr>
        <p:spPr>
          <a:xfrm>
            <a:off x="554759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Calendario + reporte mensual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94949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SOBRE QUÉ PUBLICAMOS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Pilares de contenido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pilares que rotan para un feed variado y con propósito.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801368"/>
            <a:ext cx="420624" cy="420624"/>
          </a:xfrm>
          <a:prstGeom prst="ellipse">
            <a:avLst/>
          </a:prstGeom>
          <a:solidFill>
            <a:srgbClr val="009CFF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190652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clases &amp; el método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5196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se vive en cada clase: juego con propósito, seguridad y disciplina. Posiciona al gym como experto.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368296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6968" y="2478024"/>
            <a:ext cx="420624" cy="420624"/>
          </a:xfrm>
          <a:prstGeom prst="ellipse">
            <a:avLst/>
          </a:prstGeom>
          <a:solidFill>
            <a:srgbClr val="23263A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258318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3682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Logros de los niños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251960" y="236829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Avances y primeras figuras de los alumnos. La prueba social que convence a mamás y papás.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044952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86968" y="3154680"/>
            <a:ext cx="420624" cy="420624"/>
          </a:xfrm>
          <a:prstGeom prst="ellipse">
            <a:avLst/>
          </a:prstGeom>
          <a:solidFill>
            <a:srgbClr val="E5384E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32598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044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Inspiración &amp; arte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251960" y="30449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Telas, alturas y tomas cinematográficas en el gym. El 'wow' que detiene el scroll.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3721608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86968" y="3831336"/>
            <a:ext cx="420624" cy="420624"/>
          </a:xfrm>
          <a:prstGeom prst="ellipse">
            <a:avLst/>
          </a:prstGeom>
          <a:solidFill>
            <a:srgbClr val="009CFF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3936492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coach &amp; la comunidad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251960" y="37216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Coach Ro y el día a día de Alpha Kids. El rostro humano que da confianza a la marca.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398264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86968" y="4507992"/>
            <a:ext cx="420624" cy="420624"/>
          </a:xfrm>
          <a:prstGeom prst="ellipse">
            <a:avLst/>
          </a:prstGeom>
          <a:solidFill>
            <a:srgbClr val="23263A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" y="4613148"/>
            <a:ext cx="210312" cy="2103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43982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Familias &amp; objeciones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251960" y="439826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'¿A qué edad?', '¿es seguro?'. Resuelve las dudas de mamás y papás e invita a conocer el gym.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Reservas por WhatsApp del gym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contenido lleva el tráfico; WhatsApp cierra la reserva. Configuramos el WhatsApp Business de Alpha Fitness de forma profesional, sin bots: solo lo que la app permite de fábrica, bien hecho.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F2F7FC"/>
          </a:solidFill>
          <a:ln/>
          <a:effectLst>
            <a:outerShdw blurRad="114300" dist="38100" dir="5400000" algn="bl" rotWithShape="0">
              <a:srgbClr val="9AA3B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009CFF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644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de empresa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Alpha Fitness: horarios, ubicación y logo. Imagen profesional desde el primer mensaje.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529584" y="242316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F2F7FC"/>
          </a:solidFill>
          <a:ln/>
          <a:effectLst>
            <a:outerShdw blurRad="114300" dist="38100" dir="5400000" algn="bl" rotWithShape="0">
              <a:srgbClr val="9AA3B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12464" y="2651760"/>
            <a:ext cx="548640" cy="548640"/>
          </a:xfrm>
          <a:prstGeom prst="ellipse">
            <a:avLst/>
          </a:prstGeom>
          <a:solidFill>
            <a:srgbClr val="23263A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2788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8184" y="32644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Catálogo de clases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58184" y="361188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3 clases de Alpha Kids con horarios y precios visibles en el chat.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6419088" y="242316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F2F7FC"/>
          </a:solidFill>
          <a:ln/>
          <a:effectLst>
            <a:outerShdw blurRad="114300" dist="38100" dir="5400000" algn="bl" rotWithShape="0">
              <a:srgbClr val="9AA3B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01968" y="2651760"/>
            <a:ext cx="548640" cy="548640"/>
          </a:xfrm>
          <a:prstGeom prst="ellipse">
            <a:avLst/>
          </a:prstGeom>
          <a:solidFill>
            <a:srgbClr val="25D366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27889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47688" y="32644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Respuestas rápidas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647688" y="361188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Bienvenida y respuestas guardadas: herramientas nativas de WhatsApp Business.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Y RETORNO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inversión, con números claros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09928"/>
            <a:ext cx="512064" cy="512064"/>
          </a:xfrm>
          <a:prstGeom prst="ellipse">
            <a:avLst/>
          </a:prstGeom>
          <a:solidFill>
            <a:srgbClr val="009CFF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837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Arranque (única vez)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0" y="15087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$800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23263A"/>
          </a:solidFill>
          <a:ln/>
          <a:effectLst>
            <a:outerShdw blurRad="114300" dist="38100" dir="5400000" algn="bl" rotWithShape="0">
              <a:srgbClr val="9AA3B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1248" y="2807208"/>
            <a:ext cx="512064" cy="512064"/>
          </a:xfrm>
          <a:prstGeom prst="ellipse">
            <a:avLst/>
          </a:prstGeom>
          <a:solidFill>
            <a:srgbClr val="009CFF"/>
          </a:solidFill>
          <a:ln/>
          <a:effectLst>
            <a:outerShdw blurRad="114300" dist="38100" dir="5400000" algn="bl" rotWithShape="0">
              <a:srgbClr val="9AA3B2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9352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Mensual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834640" y="26700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$1,700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914400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Pauta</a:t>
            </a:r>
            <a:r>
              <a:rPr lang="en-US" sz="11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$300   ·   </a:t>
            </a:r>
            <a:r>
              <a:rPr lang="en-US" sz="1100" b="1" dirty="0">
                <a:solidFill>
                  <a:srgbClr val="C7CCD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Honorarios $1,400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619</Words>
  <Application>Microsoft Office PowerPoint</Application>
  <PresentationFormat>Presentación en pantalla (16:9)</PresentationFormat>
  <Paragraphs>85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Plan Esencial — Alpha Fitness · Alpha Kids</dc:title>
  <dc:subject>PptxGenJS Presentation</dc:subject>
  <dc:creator>Medusssa.Studio</dc:creator>
  <cp:lastModifiedBy>José Augusto</cp:lastModifiedBy>
  <cp:revision>10</cp:revision>
  <dcterms:created xsi:type="dcterms:W3CDTF">2026-06-21T23:13:24Z</dcterms:created>
  <dcterms:modified xsi:type="dcterms:W3CDTF">2026-07-29T16:50:32Z</dcterms:modified>
</cp:coreProperties>
</file>